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7" d="100"/>
          <a:sy n="97" d="100"/>
        </p:scale>
        <p:origin x="60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403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1861114"/>
            <a:ext cx="6033896" cy="500906"/>
          </a:xfrm>
          <a:prstGeom prst="rect">
            <a:avLst/>
          </a:prstGeom>
          <a:noFill/>
          <a:ln/>
        </p:spPr>
        <p:txBody>
          <a:bodyPr wrap="none" lIns="0" tIns="0" rIns="0" bIns="0" rtlCol="0" anchor="t">
            <a:spAutoFit/>
          </a:bodyPr>
          <a:lstStyle/>
          <a:p>
            <a:pPr marL="0" indent="0" algn="l">
              <a:lnSpc>
                <a:spcPts val="3800"/>
              </a:lnSpc>
              <a:buNone/>
            </a:pPr>
            <a:r>
              <a:rPr lang="en-US" sz="4000" b="1" dirty="0">
                <a:solidFill>
                  <a:srgbClr val="0D7377"/>
                </a:solidFill>
              </a:rPr>
              <a:t>IVF Cycle Outcomes Analysis</a:t>
            </a:r>
            <a:endParaRPr lang="en-US" sz="4000" dirty="0"/>
          </a:p>
        </p:txBody>
      </p:sp>
      <p:sp>
        <p:nvSpPr>
          <p:cNvPr id="4" name="Text 1"/>
          <p:cNvSpPr/>
          <p:nvPr/>
        </p:nvSpPr>
        <p:spPr>
          <a:xfrm>
            <a:off x="714375" y="2484044"/>
            <a:ext cx="5211683" cy="250453"/>
          </a:xfrm>
          <a:prstGeom prst="rect">
            <a:avLst/>
          </a:prstGeom>
          <a:noFill/>
          <a:ln/>
        </p:spPr>
        <p:txBody>
          <a:bodyPr wrap="none" lIns="0" tIns="0" rIns="0" bIns="0" rtlCol="0" anchor="t">
            <a:spAutoFit/>
          </a:bodyPr>
          <a:lstStyle/>
          <a:p>
            <a:pPr marL="0" indent="0" algn="l">
              <a:lnSpc>
                <a:spcPts val="1900"/>
              </a:lnSpc>
              <a:buNone/>
            </a:pPr>
            <a:r>
              <a:rPr lang="en-US" sz="2000" dirty="0">
                <a:solidFill>
                  <a:srgbClr val="2C3E50"/>
                </a:solidFill>
              </a:rPr>
              <a:t>Comparing Success Rates Across Treatment Cycles</a:t>
            </a:r>
            <a:endParaRPr lang="en-US" sz="2000" dirty="0"/>
          </a:p>
        </p:txBody>
      </p:sp>
      <p:sp>
        <p:nvSpPr>
          <p:cNvPr id="5" name="Text 2"/>
          <p:cNvSpPr/>
          <p:nvPr/>
        </p:nvSpPr>
        <p:spPr>
          <a:xfrm>
            <a:off x="714375" y="3185917"/>
            <a:ext cx="3021020"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4A098"/>
                </a:solidFill>
              </a:rPr>
              <a:t>Data Briefing for NICE Guidelines Review</a:t>
            </a:r>
            <a:endParaRPr lang="en-US" sz="1400" dirty="0"/>
          </a:p>
        </p:txBody>
      </p:sp>
      <p:sp>
        <p:nvSpPr>
          <p:cNvPr id="6" name="Text 3"/>
          <p:cNvSpPr/>
          <p:nvPr/>
        </p:nvSpPr>
        <p:spPr>
          <a:xfrm>
            <a:off x="714375" y="3507386"/>
            <a:ext cx="3786293" cy="153888"/>
          </a:xfrm>
          <a:prstGeom prst="rect">
            <a:avLst/>
          </a:prstGeom>
          <a:noFill/>
          <a:ln/>
        </p:spPr>
        <p:txBody>
          <a:bodyPr wrap="none" lIns="0" tIns="0" rIns="0" bIns="0" rtlCol="0" anchor="t">
            <a:spAutoFit/>
          </a:bodyPr>
          <a:lstStyle/>
          <a:p>
            <a:pPr marL="0" indent="0" algn="l">
              <a:lnSpc>
                <a:spcPts val="1200"/>
              </a:lnSpc>
              <a:buNone/>
            </a:pPr>
            <a:r>
              <a:rPr lang="en-US" sz="1100" dirty="0">
                <a:solidFill>
                  <a:srgbClr val="5A6C7D"/>
                </a:solidFill>
              </a:rPr>
              <a:t>HFEA Anonymised Register 2017-2018 • 169,616 treatment cycles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0773378" cy="5143500"/>
          </a:xfrm>
          <a:prstGeom prst="rect">
            <a:avLst/>
          </a:prstGeom>
        </p:spPr>
      </p:pic>
      <p:sp>
        <p:nvSpPr>
          <p:cNvPr id="3" name="Text 0"/>
          <p:cNvSpPr/>
          <p:nvPr/>
        </p:nvSpPr>
        <p:spPr>
          <a:xfrm>
            <a:off x="571500" y="500063"/>
            <a:ext cx="7052044" cy="307777"/>
          </a:xfrm>
          <a:prstGeom prst="rect">
            <a:avLst/>
          </a:prstGeom>
          <a:noFill/>
          <a:ln/>
        </p:spPr>
        <p:txBody>
          <a:bodyPr wrap="square" lIns="0" tIns="0" rIns="0" bIns="0" rtlCol="0" anchor="t">
            <a:spAutoFit/>
          </a:bodyPr>
          <a:lstStyle/>
          <a:p>
            <a:pPr marL="0" indent="0" algn="l">
              <a:lnSpc>
                <a:spcPts val="2400"/>
              </a:lnSpc>
              <a:buNone/>
            </a:pPr>
            <a:r>
              <a:rPr lang="en-US" sz="3200" b="1" dirty="0">
                <a:solidFill>
                  <a:srgbClr val="0D7377"/>
                </a:solidFill>
              </a:rPr>
              <a:t>Executive Summary - Three Key Findings</a:t>
            </a:r>
            <a:endParaRPr lang="en-US" sz="3200" dirty="0"/>
          </a:p>
        </p:txBody>
      </p:sp>
      <p:sp>
        <p:nvSpPr>
          <p:cNvPr id="4" name="Text 1"/>
          <p:cNvSpPr/>
          <p:nvPr/>
        </p:nvSpPr>
        <p:spPr>
          <a:xfrm>
            <a:off x="571500" y="957263"/>
            <a:ext cx="7288276" cy="179536"/>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5A6C7D"/>
                </a:solidFill>
              </a:rPr>
              <a:t>This analysis of 169,616 IVF cycles from 2017-2018 reveals three critical patterns that inform NICE funding policy:</a:t>
            </a:r>
            <a:endParaRPr lang="en-US" sz="1100" dirty="0"/>
          </a:p>
        </p:txBody>
      </p:sp>
      <p:sp>
        <p:nvSpPr>
          <p:cNvPr id="5" name="Shape 2"/>
          <p:cNvSpPr/>
          <p:nvPr/>
        </p:nvSpPr>
        <p:spPr>
          <a:xfrm>
            <a:off x="571499" y="1414463"/>
            <a:ext cx="2917767" cy="3000375"/>
          </a:xfrm>
          <a:prstGeom prst="rect">
            <a:avLst/>
          </a:prstGeom>
          <a:solidFill>
            <a:srgbClr val="FFFFFF"/>
          </a:solidFill>
          <a:ln/>
        </p:spPr>
      </p:sp>
      <p:sp>
        <p:nvSpPr>
          <p:cNvPr id="6" name="Text 3"/>
          <p:cNvSpPr/>
          <p:nvPr/>
        </p:nvSpPr>
        <p:spPr>
          <a:xfrm>
            <a:off x="750094" y="1628775"/>
            <a:ext cx="275742" cy="410369"/>
          </a:xfrm>
          <a:prstGeom prst="rect">
            <a:avLst/>
          </a:prstGeom>
          <a:noFill/>
          <a:ln/>
        </p:spPr>
        <p:txBody>
          <a:bodyPr wrap="square" lIns="0" tIns="0" rIns="0" bIns="0" rtlCol="0" anchor="t">
            <a:spAutoFit/>
          </a:bodyPr>
          <a:lstStyle/>
          <a:p>
            <a:pPr marL="0" indent="0" algn="l">
              <a:lnSpc>
                <a:spcPts val="3200"/>
              </a:lnSpc>
              <a:buNone/>
            </a:pPr>
            <a:r>
              <a:rPr lang="en-US" sz="4000" b="1" dirty="0">
                <a:solidFill>
                  <a:srgbClr val="14A098"/>
                </a:solidFill>
              </a:rPr>
              <a:t>1</a:t>
            </a:r>
            <a:endParaRPr lang="en-US" sz="4000" dirty="0"/>
          </a:p>
        </p:txBody>
      </p:sp>
      <p:sp>
        <p:nvSpPr>
          <p:cNvPr id="7" name="Text 4"/>
          <p:cNvSpPr/>
          <p:nvPr/>
        </p:nvSpPr>
        <p:spPr>
          <a:xfrm>
            <a:off x="750093" y="2237780"/>
            <a:ext cx="2496933" cy="334305"/>
          </a:xfrm>
          <a:prstGeom prst="rect">
            <a:avLst/>
          </a:prstGeom>
          <a:noFill/>
          <a:ln/>
        </p:spPr>
        <p:txBody>
          <a:bodyPr wrap="square" lIns="0" tIns="0" rIns="0" bIns="0" rtlCol="0" anchor="t">
            <a:spAutoFit/>
          </a:bodyPr>
          <a:lstStyle/>
          <a:p>
            <a:pPr marL="0" indent="0" algn="l">
              <a:lnSpc>
                <a:spcPts val="1300"/>
              </a:lnSpc>
              <a:buNone/>
            </a:pPr>
            <a:r>
              <a:rPr lang="en-US" sz="1100" b="1" dirty="0">
                <a:solidFill>
                  <a:srgbClr val="2C3E50"/>
                </a:solidFill>
              </a:rPr>
              <a:t>Success Rates Across Cycles Show Complex Pattern</a:t>
            </a:r>
            <a:endParaRPr lang="en-US" sz="1100" dirty="0"/>
          </a:p>
        </p:txBody>
      </p:sp>
      <p:sp>
        <p:nvSpPr>
          <p:cNvPr id="8" name="Text 5"/>
          <p:cNvSpPr/>
          <p:nvPr/>
        </p:nvSpPr>
        <p:spPr>
          <a:xfrm>
            <a:off x="750093" y="2714960"/>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9" name="Text 6"/>
          <p:cNvSpPr/>
          <p:nvPr/>
        </p:nvSpPr>
        <p:spPr>
          <a:xfrm>
            <a:off x="892969" y="2727461"/>
            <a:ext cx="2067254"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Our 2017-2018 data shows success peaking at 2nd cycle (27.2%)</a:t>
            </a:r>
            <a:endParaRPr lang="en-US" sz="1050" dirty="0"/>
          </a:p>
        </p:txBody>
      </p:sp>
      <p:sp>
        <p:nvSpPr>
          <p:cNvPr id="10" name="Text 7"/>
          <p:cNvSpPr/>
          <p:nvPr/>
        </p:nvSpPr>
        <p:spPr>
          <a:xfrm>
            <a:off x="750093" y="3143585"/>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11" name="Text 8"/>
          <p:cNvSpPr/>
          <p:nvPr/>
        </p:nvSpPr>
        <p:spPr>
          <a:xfrm>
            <a:off x="892968" y="3156086"/>
            <a:ext cx="2249791" cy="538609"/>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Differs from published literature showing 1st cycle peaks (29.5%, Smith et al. JAMA 2015)</a:t>
            </a:r>
            <a:endParaRPr lang="en-US" sz="1050" dirty="0"/>
          </a:p>
        </p:txBody>
      </p:sp>
      <p:sp>
        <p:nvSpPr>
          <p:cNvPr id="12" name="Text 9"/>
          <p:cNvSpPr/>
          <p:nvPr/>
        </p:nvSpPr>
        <p:spPr>
          <a:xfrm>
            <a:off x="750093" y="3743660"/>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13" name="Text 10"/>
          <p:cNvSpPr/>
          <p:nvPr/>
        </p:nvSpPr>
        <p:spPr>
          <a:xfrm>
            <a:off x="892969" y="3756161"/>
            <a:ext cx="2273792"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Discrepancy requires investigation but does not change policy implications</a:t>
            </a:r>
            <a:endParaRPr lang="en-US" sz="1050" dirty="0"/>
          </a:p>
        </p:txBody>
      </p:sp>
      <p:sp>
        <p:nvSpPr>
          <p:cNvPr id="14" name="Shape 11"/>
          <p:cNvSpPr/>
          <p:nvPr/>
        </p:nvSpPr>
        <p:spPr>
          <a:xfrm>
            <a:off x="3333731" y="1414463"/>
            <a:ext cx="2917801" cy="3000375"/>
          </a:xfrm>
          <a:prstGeom prst="rect">
            <a:avLst/>
          </a:prstGeom>
          <a:solidFill>
            <a:srgbClr val="FFFFFF"/>
          </a:solidFill>
          <a:ln/>
        </p:spPr>
      </p:sp>
      <p:sp>
        <p:nvSpPr>
          <p:cNvPr id="15" name="Text 12"/>
          <p:cNvSpPr/>
          <p:nvPr/>
        </p:nvSpPr>
        <p:spPr>
          <a:xfrm>
            <a:off x="3512325" y="1628775"/>
            <a:ext cx="275742" cy="410369"/>
          </a:xfrm>
          <a:prstGeom prst="rect">
            <a:avLst/>
          </a:prstGeom>
          <a:noFill/>
          <a:ln/>
        </p:spPr>
        <p:txBody>
          <a:bodyPr wrap="square" lIns="0" tIns="0" rIns="0" bIns="0" rtlCol="0" anchor="t">
            <a:spAutoFit/>
          </a:bodyPr>
          <a:lstStyle/>
          <a:p>
            <a:pPr marL="0" indent="0" algn="l">
              <a:lnSpc>
                <a:spcPts val="3200"/>
              </a:lnSpc>
              <a:buNone/>
            </a:pPr>
            <a:r>
              <a:rPr lang="en-US" sz="4000" b="1" dirty="0">
                <a:solidFill>
                  <a:srgbClr val="14A098"/>
                </a:solidFill>
              </a:rPr>
              <a:t>2</a:t>
            </a:r>
            <a:endParaRPr lang="en-US" sz="4000" dirty="0"/>
          </a:p>
        </p:txBody>
      </p:sp>
      <p:sp>
        <p:nvSpPr>
          <p:cNvPr id="16" name="Text 13"/>
          <p:cNvSpPr/>
          <p:nvPr/>
        </p:nvSpPr>
        <p:spPr>
          <a:xfrm>
            <a:off x="3512324" y="2237780"/>
            <a:ext cx="2496966" cy="334305"/>
          </a:xfrm>
          <a:prstGeom prst="rect">
            <a:avLst/>
          </a:prstGeom>
          <a:noFill/>
          <a:ln/>
        </p:spPr>
        <p:txBody>
          <a:bodyPr wrap="square" lIns="0" tIns="0" rIns="0" bIns="0" rtlCol="0" anchor="t">
            <a:spAutoFit/>
          </a:bodyPr>
          <a:lstStyle/>
          <a:p>
            <a:pPr marL="0" indent="0" algn="l">
              <a:lnSpc>
                <a:spcPts val="1300"/>
              </a:lnSpc>
              <a:buNone/>
            </a:pPr>
            <a:r>
              <a:rPr lang="en-US" sz="1100" b="1" dirty="0">
                <a:solidFill>
                  <a:srgbClr val="2C3E50"/>
                </a:solidFill>
              </a:rPr>
              <a:t>Multiple Confounding Factors Complicate Direct Comparison</a:t>
            </a:r>
            <a:endParaRPr lang="en-US" sz="1100" dirty="0"/>
          </a:p>
        </p:txBody>
      </p:sp>
      <p:sp>
        <p:nvSpPr>
          <p:cNvPr id="17" name="Text 14"/>
          <p:cNvSpPr/>
          <p:nvPr/>
        </p:nvSpPr>
        <p:spPr>
          <a:xfrm>
            <a:off x="3512324" y="2714960"/>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18" name="Text 15"/>
          <p:cNvSpPr/>
          <p:nvPr/>
        </p:nvSpPr>
        <p:spPr>
          <a:xfrm>
            <a:off x="3655199" y="2727461"/>
            <a:ext cx="2240585"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Patient age increases 11% (32.5→36.1 years)</a:t>
            </a:r>
            <a:endParaRPr lang="en-US" sz="1050" dirty="0"/>
          </a:p>
        </p:txBody>
      </p:sp>
      <p:sp>
        <p:nvSpPr>
          <p:cNvPr id="19" name="Text 16"/>
          <p:cNvSpPr/>
          <p:nvPr/>
        </p:nvSpPr>
        <p:spPr>
          <a:xfrm>
            <a:off x="3512324" y="3143585"/>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20" name="Text 17"/>
          <p:cNvSpPr/>
          <p:nvPr/>
        </p:nvSpPr>
        <p:spPr>
          <a:xfrm>
            <a:off x="3655199" y="3156086"/>
            <a:ext cx="2385357" cy="179536"/>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Donor egg usage triples (3.6%→10.1%)</a:t>
            </a:r>
            <a:endParaRPr lang="en-US" sz="1050" dirty="0"/>
          </a:p>
        </p:txBody>
      </p:sp>
      <p:sp>
        <p:nvSpPr>
          <p:cNvPr id="21" name="Text 18"/>
          <p:cNvSpPr/>
          <p:nvPr/>
        </p:nvSpPr>
        <p:spPr>
          <a:xfrm>
            <a:off x="3512324" y="3400760"/>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22" name="Text 19"/>
          <p:cNvSpPr/>
          <p:nvPr/>
        </p:nvSpPr>
        <p:spPr>
          <a:xfrm>
            <a:off x="3655200" y="3413261"/>
            <a:ext cx="2046542"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Treatment shifts dramatically from fresh to frozen cycles (85%→51%)</a:t>
            </a:r>
            <a:endParaRPr lang="en-US" sz="1050" dirty="0"/>
          </a:p>
        </p:txBody>
      </p:sp>
      <p:sp>
        <p:nvSpPr>
          <p:cNvPr id="23" name="Text 20"/>
          <p:cNvSpPr/>
          <p:nvPr/>
        </p:nvSpPr>
        <p:spPr>
          <a:xfrm>
            <a:off x="3512324" y="3829385"/>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24" name="Text 21"/>
          <p:cNvSpPr/>
          <p:nvPr/>
        </p:nvSpPr>
        <p:spPr>
          <a:xfrm>
            <a:off x="3655200" y="3841886"/>
            <a:ext cx="1934558"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Later cycles serve fundamentally different population</a:t>
            </a:r>
            <a:endParaRPr lang="en-US" sz="1050" dirty="0"/>
          </a:p>
        </p:txBody>
      </p:sp>
      <p:sp>
        <p:nvSpPr>
          <p:cNvPr id="25" name="Shape 22"/>
          <p:cNvSpPr/>
          <p:nvPr/>
        </p:nvSpPr>
        <p:spPr>
          <a:xfrm>
            <a:off x="6095990" y="1414463"/>
            <a:ext cx="2917767" cy="3000375"/>
          </a:xfrm>
          <a:prstGeom prst="rect">
            <a:avLst/>
          </a:prstGeom>
          <a:solidFill>
            <a:srgbClr val="FFFFFF"/>
          </a:solidFill>
          <a:ln/>
        </p:spPr>
      </p:sp>
      <p:sp>
        <p:nvSpPr>
          <p:cNvPr id="26" name="Text 23"/>
          <p:cNvSpPr/>
          <p:nvPr/>
        </p:nvSpPr>
        <p:spPr>
          <a:xfrm>
            <a:off x="6274584" y="1628775"/>
            <a:ext cx="275742" cy="410369"/>
          </a:xfrm>
          <a:prstGeom prst="rect">
            <a:avLst/>
          </a:prstGeom>
          <a:noFill/>
          <a:ln/>
        </p:spPr>
        <p:txBody>
          <a:bodyPr wrap="square" lIns="0" tIns="0" rIns="0" bIns="0" rtlCol="0" anchor="t">
            <a:spAutoFit/>
          </a:bodyPr>
          <a:lstStyle/>
          <a:p>
            <a:pPr marL="0" indent="0" algn="l">
              <a:lnSpc>
                <a:spcPts val="3200"/>
              </a:lnSpc>
              <a:buNone/>
            </a:pPr>
            <a:r>
              <a:rPr lang="en-US" sz="4000" b="1" dirty="0">
                <a:solidFill>
                  <a:srgbClr val="14A098"/>
                </a:solidFill>
              </a:rPr>
              <a:t>3</a:t>
            </a:r>
            <a:endParaRPr lang="en-US" sz="4000" dirty="0"/>
          </a:p>
        </p:txBody>
      </p:sp>
      <p:sp>
        <p:nvSpPr>
          <p:cNvPr id="27" name="Text 24"/>
          <p:cNvSpPr/>
          <p:nvPr/>
        </p:nvSpPr>
        <p:spPr>
          <a:xfrm>
            <a:off x="6274583" y="2237780"/>
            <a:ext cx="2496933" cy="334305"/>
          </a:xfrm>
          <a:prstGeom prst="rect">
            <a:avLst/>
          </a:prstGeom>
          <a:noFill/>
          <a:ln/>
        </p:spPr>
        <p:txBody>
          <a:bodyPr wrap="square" lIns="0" tIns="0" rIns="0" bIns="0" rtlCol="0" anchor="t">
            <a:spAutoFit/>
          </a:bodyPr>
          <a:lstStyle/>
          <a:p>
            <a:pPr marL="0" indent="0" algn="l">
              <a:lnSpc>
                <a:spcPts val="1300"/>
              </a:lnSpc>
              <a:buNone/>
            </a:pPr>
            <a:r>
              <a:rPr lang="en-US" sz="1100" b="1" dirty="0">
                <a:solidFill>
                  <a:srgbClr val="2C3E50"/>
                </a:solidFill>
              </a:rPr>
              <a:t>Current 3-Cycle Policy Appears Evidence-Based</a:t>
            </a:r>
            <a:endParaRPr lang="en-US" sz="1100" dirty="0"/>
          </a:p>
        </p:txBody>
      </p:sp>
      <p:sp>
        <p:nvSpPr>
          <p:cNvPr id="28" name="Text 25"/>
          <p:cNvSpPr/>
          <p:nvPr/>
        </p:nvSpPr>
        <p:spPr>
          <a:xfrm>
            <a:off x="6274583" y="2714960"/>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29" name="Text 26"/>
          <p:cNvSpPr/>
          <p:nvPr/>
        </p:nvSpPr>
        <p:spPr>
          <a:xfrm>
            <a:off x="6417459" y="2727461"/>
            <a:ext cx="2408020" cy="179536"/>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85% of patients exit by end of 3rd cycle</a:t>
            </a:r>
            <a:endParaRPr lang="en-US" sz="1050" dirty="0"/>
          </a:p>
        </p:txBody>
      </p:sp>
      <p:sp>
        <p:nvSpPr>
          <p:cNvPr id="30" name="Text 27"/>
          <p:cNvSpPr/>
          <p:nvPr/>
        </p:nvSpPr>
        <p:spPr>
          <a:xfrm>
            <a:off x="6274583" y="2972135"/>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1" name="Text 28"/>
          <p:cNvSpPr/>
          <p:nvPr/>
        </p:nvSpPr>
        <p:spPr>
          <a:xfrm>
            <a:off x="6417459" y="2984636"/>
            <a:ext cx="1935940"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Success rates remain reasonable through 3rd cycle, decline after</a:t>
            </a:r>
            <a:endParaRPr lang="en-US" sz="1050" dirty="0"/>
          </a:p>
        </p:txBody>
      </p:sp>
      <p:sp>
        <p:nvSpPr>
          <p:cNvPr id="32" name="Text 29"/>
          <p:cNvSpPr/>
          <p:nvPr/>
        </p:nvSpPr>
        <p:spPr>
          <a:xfrm>
            <a:off x="6274583" y="3400760"/>
            <a:ext cx="75545" cy="17953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3" name="Text 30"/>
          <p:cNvSpPr/>
          <p:nvPr/>
        </p:nvSpPr>
        <p:spPr>
          <a:xfrm>
            <a:off x="6417459" y="3413261"/>
            <a:ext cx="2315448" cy="538609"/>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Safety concerns: multiple births double (6.7%→13.4%), eSET usage drops (35.8%→26.1%)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28625"/>
            <a:ext cx="6404959" cy="307777"/>
          </a:xfrm>
          <a:prstGeom prst="rect">
            <a:avLst/>
          </a:prstGeom>
          <a:noFill/>
          <a:ln/>
        </p:spPr>
        <p:txBody>
          <a:bodyPr wrap="none" lIns="0" tIns="0" rIns="0" bIns="0" rtlCol="0" anchor="t">
            <a:spAutoFit/>
          </a:bodyPr>
          <a:lstStyle/>
          <a:p>
            <a:pPr marL="0" indent="0" algn="l">
              <a:lnSpc>
                <a:spcPts val="2400"/>
              </a:lnSpc>
              <a:buNone/>
            </a:pPr>
            <a:r>
              <a:rPr lang="en-US" sz="2800" b="1" dirty="0">
                <a:solidFill>
                  <a:srgbClr val="0D7377"/>
                </a:solidFill>
              </a:rPr>
              <a:t>Per-Cycle Success Rates - Data vs Literature</a:t>
            </a:r>
            <a:endParaRPr lang="en-US" sz="2800" dirty="0"/>
          </a:p>
        </p:txBody>
      </p:sp>
      <p:sp>
        <p:nvSpPr>
          <p:cNvPr id="4" name="Text 1"/>
          <p:cNvSpPr/>
          <p:nvPr/>
        </p:nvSpPr>
        <p:spPr>
          <a:xfrm>
            <a:off x="500063" y="850106"/>
            <a:ext cx="5281895" cy="128240"/>
          </a:xfrm>
          <a:prstGeom prst="rect">
            <a:avLst/>
          </a:prstGeom>
          <a:noFill/>
          <a:ln/>
        </p:spPr>
        <p:txBody>
          <a:bodyPr wrap="none" lIns="0" tIns="0" rIns="0" bIns="0" rtlCol="0" anchor="t">
            <a:spAutoFit/>
          </a:bodyPr>
          <a:lstStyle/>
          <a:p>
            <a:pPr marL="0" indent="0" algn="l">
              <a:lnSpc>
                <a:spcPts val="1000"/>
              </a:lnSpc>
              <a:buNone/>
            </a:pPr>
            <a:r>
              <a:rPr lang="en-US" sz="1000" i="1" dirty="0">
                <a:solidFill>
                  <a:srgbClr val="5A6C7D"/>
                </a:solidFill>
              </a:rPr>
              <a:t>Research Question: How do IVF live-birth rates compare across 1st, 2nd, 3rd, and 4+ treatment cycles?</a:t>
            </a:r>
            <a:endParaRPr lang="en-US" sz="1000" dirty="0"/>
          </a:p>
        </p:txBody>
      </p:sp>
      <p:sp>
        <p:nvSpPr>
          <p:cNvPr id="5" name="Text 2"/>
          <p:cNvSpPr/>
          <p:nvPr/>
        </p:nvSpPr>
        <p:spPr>
          <a:xfrm>
            <a:off x="500063" y="1210866"/>
            <a:ext cx="2149627"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2C3E50"/>
                </a:solidFill>
              </a:rPr>
              <a:t>Our 2017-2018 Data (169,616 cycles)</a:t>
            </a:r>
            <a:endParaRPr lang="en-US" sz="1100" dirty="0"/>
          </a:p>
        </p:txBody>
      </p:sp>
      <p:sp>
        <p:nvSpPr>
          <p:cNvPr id="6" name="Shape 3"/>
          <p:cNvSpPr/>
          <p:nvPr/>
        </p:nvSpPr>
        <p:spPr>
          <a:xfrm>
            <a:off x="500063" y="1548408"/>
            <a:ext cx="1392222" cy="321469"/>
          </a:xfrm>
          <a:prstGeom prst="rect">
            <a:avLst/>
          </a:prstGeom>
          <a:solidFill>
            <a:srgbClr val="E8F4F4"/>
          </a:solidFill>
          <a:ln/>
        </p:spPr>
      </p:sp>
      <p:sp>
        <p:nvSpPr>
          <p:cNvPr id="7" name="Text 4"/>
          <p:cNvSpPr/>
          <p:nvPr/>
        </p:nvSpPr>
        <p:spPr>
          <a:xfrm>
            <a:off x="500063" y="1541917"/>
            <a:ext cx="1392222"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Cycle Number</a:t>
            </a:r>
            <a:endParaRPr lang="en-US" sz="1000" dirty="0"/>
          </a:p>
        </p:txBody>
      </p:sp>
      <p:sp>
        <p:nvSpPr>
          <p:cNvPr id="8" name="Shape 5"/>
          <p:cNvSpPr/>
          <p:nvPr/>
        </p:nvSpPr>
        <p:spPr>
          <a:xfrm>
            <a:off x="1892284" y="1548408"/>
            <a:ext cx="1290145" cy="321469"/>
          </a:xfrm>
          <a:prstGeom prst="rect">
            <a:avLst/>
          </a:prstGeom>
          <a:solidFill>
            <a:srgbClr val="E8F4F4"/>
          </a:solidFill>
          <a:ln/>
        </p:spPr>
      </p:sp>
      <p:sp>
        <p:nvSpPr>
          <p:cNvPr id="9" name="Text 6"/>
          <p:cNvSpPr/>
          <p:nvPr/>
        </p:nvSpPr>
        <p:spPr>
          <a:xfrm>
            <a:off x="1892284" y="1541917"/>
            <a:ext cx="1290145"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Success Rate</a:t>
            </a:r>
            <a:endParaRPr lang="en-US" sz="1000" dirty="0"/>
          </a:p>
        </p:txBody>
      </p:sp>
      <p:sp>
        <p:nvSpPr>
          <p:cNvPr id="10" name="Shape 7"/>
          <p:cNvSpPr/>
          <p:nvPr/>
        </p:nvSpPr>
        <p:spPr>
          <a:xfrm>
            <a:off x="3182429" y="1548408"/>
            <a:ext cx="1210977" cy="321469"/>
          </a:xfrm>
          <a:prstGeom prst="rect">
            <a:avLst/>
          </a:prstGeom>
          <a:solidFill>
            <a:srgbClr val="E8F4F4"/>
          </a:solidFill>
          <a:ln/>
        </p:spPr>
      </p:sp>
      <p:sp>
        <p:nvSpPr>
          <p:cNvPr id="11" name="Text 8"/>
          <p:cNvSpPr/>
          <p:nvPr/>
        </p:nvSpPr>
        <p:spPr>
          <a:xfrm>
            <a:off x="3182429" y="1541917"/>
            <a:ext cx="1210977"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Sample Size</a:t>
            </a:r>
            <a:endParaRPr lang="en-US" sz="1000" dirty="0"/>
          </a:p>
        </p:txBody>
      </p:sp>
      <p:sp>
        <p:nvSpPr>
          <p:cNvPr id="12" name="Text 9"/>
          <p:cNvSpPr/>
          <p:nvPr/>
        </p:nvSpPr>
        <p:spPr>
          <a:xfrm>
            <a:off x="500063" y="1868069"/>
            <a:ext cx="139222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1st cycle</a:t>
            </a:r>
            <a:endParaRPr lang="en-US" sz="1000" dirty="0"/>
          </a:p>
        </p:txBody>
      </p:sp>
      <p:sp>
        <p:nvSpPr>
          <p:cNvPr id="13" name="Text 10"/>
          <p:cNvSpPr/>
          <p:nvPr/>
        </p:nvSpPr>
        <p:spPr>
          <a:xfrm>
            <a:off x="1892284" y="1868069"/>
            <a:ext cx="1290145"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22.3%</a:t>
            </a:r>
            <a:endParaRPr lang="en-US" sz="1000" dirty="0"/>
          </a:p>
        </p:txBody>
      </p:sp>
      <p:sp>
        <p:nvSpPr>
          <p:cNvPr id="14" name="Text 11"/>
          <p:cNvSpPr/>
          <p:nvPr/>
        </p:nvSpPr>
        <p:spPr>
          <a:xfrm>
            <a:off x="3182429" y="1868069"/>
            <a:ext cx="1210977"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72,758</a:t>
            </a:r>
            <a:endParaRPr lang="en-US" sz="1000" dirty="0"/>
          </a:p>
        </p:txBody>
      </p:sp>
      <p:sp>
        <p:nvSpPr>
          <p:cNvPr id="15" name="Shape 12"/>
          <p:cNvSpPr/>
          <p:nvPr/>
        </p:nvSpPr>
        <p:spPr>
          <a:xfrm>
            <a:off x="500063" y="2166342"/>
            <a:ext cx="3893344" cy="296466"/>
          </a:xfrm>
          <a:prstGeom prst="rect">
            <a:avLst/>
          </a:prstGeom>
          <a:solidFill>
            <a:srgbClr val="F0F9F9"/>
          </a:solidFill>
          <a:ln/>
        </p:spPr>
      </p:sp>
      <p:sp>
        <p:nvSpPr>
          <p:cNvPr id="16" name="Text 13"/>
          <p:cNvSpPr/>
          <p:nvPr/>
        </p:nvSpPr>
        <p:spPr>
          <a:xfrm>
            <a:off x="500063" y="2164534"/>
            <a:ext cx="139222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2nd cycle</a:t>
            </a:r>
            <a:endParaRPr lang="en-US" sz="1000" dirty="0"/>
          </a:p>
        </p:txBody>
      </p:sp>
      <p:sp>
        <p:nvSpPr>
          <p:cNvPr id="17" name="Text 14"/>
          <p:cNvSpPr/>
          <p:nvPr/>
        </p:nvSpPr>
        <p:spPr>
          <a:xfrm>
            <a:off x="1892284" y="2164534"/>
            <a:ext cx="1290145"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27.2%</a:t>
            </a:r>
            <a:endParaRPr lang="en-US" sz="1000" dirty="0"/>
          </a:p>
        </p:txBody>
      </p:sp>
      <p:sp>
        <p:nvSpPr>
          <p:cNvPr id="18" name="Text 15"/>
          <p:cNvSpPr/>
          <p:nvPr/>
        </p:nvSpPr>
        <p:spPr>
          <a:xfrm>
            <a:off x="3182429" y="2164534"/>
            <a:ext cx="1210977"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40,631</a:t>
            </a:r>
            <a:endParaRPr lang="en-US" sz="1000" dirty="0"/>
          </a:p>
        </p:txBody>
      </p:sp>
      <p:sp>
        <p:nvSpPr>
          <p:cNvPr id="19" name="Text 16"/>
          <p:cNvSpPr/>
          <p:nvPr/>
        </p:nvSpPr>
        <p:spPr>
          <a:xfrm>
            <a:off x="500063" y="2461000"/>
            <a:ext cx="139222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3rd cycle</a:t>
            </a:r>
            <a:endParaRPr lang="en-US" sz="1000" dirty="0"/>
          </a:p>
        </p:txBody>
      </p:sp>
      <p:sp>
        <p:nvSpPr>
          <p:cNvPr id="20" name="Text 17"/>
          <p:cNvSpPr/>
          <p:nvPr/>
        </p:nvSpPr>
        <p:spPr>
          <a:xfrm>
            <a:off x="1892284" y="2461000"/>
            <a:ext cx="1290145"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25.7%</a:t>
            </a:r>
            <a:endParaRPr lang="en-US" sz="1000" dirty="0"/>
          </a:p>
        </p:txBody>
      </p:sp>
      <p:sp>
        <p:nvSpPr>
          <p:cNvPr id="21" name="Text 18"/>
          <p:cNvSpPr/>
          <p:nvPr/>
        </p:nvSpPr>
        <p:spPr>
          <a:xfrm>
            <a:off x="3182429" y="2461000"/>
            <a:ext cx="1210977"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24,011</a:t>
            </a:r>
            <a:endParaRPr lang="en-US" sz="1000" dirty="0"/>
          </a:p>
        </p:txBody>
      </p:sp>
      <p:sp>
        <p:nvSpPr>
          <p:cNvPr id="22" name="Text 19"/>
          <p:cNvSpPr/>
          <p:nvPr/>
        </p:nvSpPr>
        <p:spPr>
          <a:xfrm>
            <a:off x="500063" y="2755679"/>
            <a:ext cx="139222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 cycles</a:t>
            </a:r>
            <a:endParaRPr lang="en-US" sz="1000" dirty="0"/>
          </a:p>
        </p:txBody>
      </p:sp>
      <p:sp>
        <p:nvSpPr>
          <p:cNvPr id="23" name="Text 20"/>
          <p:cNvSpPr/>
          <p:nvPr/>
        </p:nvSpPr>
        <p:spPr>
          <a:xfrm>
            <a:off x="1892284" y="2755679"/>
            <a:ext cx="1290145"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23.4%</a:t>
            </a:r>
            <a:endParaRPr lang="en-US" sz="1000" dirty="0"/>
          </a:p>
        </p:txBody>
      </p:sp>
      <p:sp>
        <p:nvSpPr>
          <p:cNvPr id="24" name="Text 21"/>
          <p:cNvSpPr/>
          <p:nvPr/>
        </p:nvSpPr>
        <p:spPr>
          <a:xfrm>
            <a:off x="3182429" y="2755679"/>
            <a:ext cx="1210977"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32,216</a:t>
            </a:r>
            <a:endParaRPr lang="en-US" sz="1000" dirty="0"/>
          </a:p>
        </p:txBody>
      </p:sp>
      <p:pic>
        <p:nvPicPr>
          <p:cNvPr id="25" name="Image 1" descr="preencoded.png"/>
          <p:cNvPicPr>
            <a:picLocks noChangeAspect="1"/>
          </p:cNvPicPr>
          <p:nvPr/>
        </p:nvPicPr>
        <p:blipFill>
          <a:blip r:embed="rId4"/>
          <a:stretch>
            <a:fillRect/>
          </a:stretch>
        </p:blipFill>
        <p:spPr>
          <a:xfrm>
            <a:off x="500063" y="3195042"/>
            <a:ext cx="3893344" cy="1428750"/>
          </a:xfrm>
          <a:prstGeom prst="rect">
            <a:avLst/>
          </a:prstGeom>
        </p:spPr>
      </p:pic>
      <p:sp>
        <p:nvSpPr>
          <p:cNvPr id="26" name="Text 22"/>
          <p:cNvSpPr/>
          <p:nvPr/>
        </p:nvSpPr>
        <p:spPr>
          <a:xfrm>
            <a:off x="4750594" y="1210866"/>
            <a:ext cx="1918795"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2C3E50"/>
                </a:solidFill>
              </a:rPr>
              <a:t>Published Literature Comparison</a:t>
            </a:r>
            <a:endParaRPr lang="en-US" sz="1100" dirty="0"/>
          </a:p>
        </p:txBody>
      </p:sp>
      <p:sp>
        <p:nvSpPr>
          <p:cNvPr id="27" name="Shape 23"/>
          <p:cNvSpPr/>
          <p:nvPr/>
        </p:nvSpPr>
        <p:spPr>
          <a:xfrm>
            <a:off x="4750594" y="1548408"/>
            <a:ext cx="1205424" cy="467916"/>
          </a:xfrm>
          <a:prstGeom prst="rect">
            <a:avLst/>
          </a:prstGeom>
          <a:solidFill>
            <a:srgbClr val="E8F4F4"/>
          </a:solidFill>
          <a:ln/>
        </p:spPr>
      </p:sp>
      <p:sp>
        <p:nvSpPr>
          <p:cNvPr id="28" name="Text 24"/>
          <p:cNvSpPr/>
          <p:nvPr/>
        </p:nvSpPr>
        <p:spPr>
          <a:xfrm>
            <a:off x="4750594" y="1615140"/>
            <a:ext cx="1205424"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Study</a:t>
            </a:r>
            <a:endParaRPr lang="en-US" sz="1000" dirty="0"/>
          </a:p>
        </p:txBody>
      </p:sp>
      <p:sp>
        <p:nvSpPr>
          <p:cNvPr id="29" name="Shape 25"/>
          <p:cNvSpPr/>
          <p:nvPr/>
        </p:nvSpPr>
        <p:spPr>
          <a:xfrm>
            <a:off x="5956018" y="1548408"/>
            <a:ext cx="827810" cy="467916"/>
          </a:xfrm>
          <a:prstGeom prst="rect">
            <a:avLst/>
          </a:prstGeom>
          <a:solidFill>
            <a:srgbClr val="E8F4F4"/>
          </a:solidFill>
          <a:ln/>
        </p:spPr>
      </p:sp>
      <p:sp>
        <p:nvSpPr>
          <p:cNvPr id="30" name="Text 26"/>
          <p:cNvSpPr/>
          <p:nvPr/>
        </p:nvSpPr>
        <p:spPr>
          <a:xfrm>
            <a:off x="5956018" y="1551020"/>
            <a:ext cx="827810" cy="46269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1st Cycle Rate</a:t>
            </a:r>
            <a:endParaRPr lang="en-US" sz="1000" dirty="0"/>
          </a:p>
        </p:txBody>
      </p:sp>
      <p:sp>
        <p:nvSpPr>
          <p:cNvPr id="31" name="Shape 27"/>
          <p:cNvSpPr/>
          <p:nvPr/>
        </p:nvSpPr>
        <p:spPr>
          <a:xfrm>
            <a:off x="6783828" y="1548408"/>
            <a:ext cx="1860110" cy="467916"/>
          </a:xfrm>
          <a:prstGeom prst="rect">
            <a:avLst/>
          </a:prstGeom>
          <a:solidFill>
            <a:srgbClr val="E8F4F4"/>
          </a:solidFill>
          <a:ln/>
        </p:spPr>
      </p:sp>
      <p:sp>
        <p:nvSpPr>
          <p:cNvPr id="32" name="Text 28"/>
          <p:cNvSpPr/>
          <p:nvPr/>
        </p:nvSpPr>
        <p:spPr>
          <a:xfrm>
            <a:off x="6783828" y="1615140"/>
            <a:ext cx="1860110"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Pattern</a:t>
            </a:r>
            <a:endParaRPr lang="en-US" sz="1000" dirty="0"/>
          </a:p>
        </p:txBody>
      </p:sp>
      <p:sp>
        <p:nvSpPr>
          <p:cNvPr id="33" name="Text 29"/>
          <p:cNvSpPr/>
          <p:nvPr/>
        </p:nvSpPr>
        <p:spPr>
          <a:xfrm>
            <a:off x="4836319" y="2091333"/>
            <a:ext cx="854153" cy="256480"/>
          </a:xfrm>
          <a:prstGeom prst="rect">
            <a:avLst/>
          </a:prstGeom>
          <a:noFill/>
          <a:ln/>
        </p:spPr>
        <p:txBody>
          <a:bodyPr wrap="square" lIns="0" tIns="0" rIns="0" bIns="0" rtlCol="0" anchor="t">
            <a:spAutoFit/>
          </a:bodyPr>
          <a:lstStyle/>
          <a:p>
            <a:pPr marL="0" indent="0" algn="l">
              <a:lnSpc>
                <a:spcPts val="1000"/>
              </a:lnSpc>
              <a:buNone/>
            </a:pPr>
            <a:r>
              <a:rPr lang="en-US" sz="1000" dirty="0">
                <a:solidFill>
                  <a:srgbClr val="2C3E50"/>
                </a:solidFill>
              </a:rPr>
              <a:t>Smith et al. JAMA 2015</a:t>
            </a:r>
            <a:endParaRPr lang="en-US" sz="1000" dirty="0"/>
          </a:p>
        </p:txBody>
      </p:sp>
      <p:sp>
        <p:nvSpPr>
          <p:cNvPr id="34" name="Text 30"/>
          <p:cNvSpPr/>
          <p:nvPr/>
        </p:nvSpPr>
        <p:spPr>
          <a:xfrm>
            <a:off x="4836319" y="2384227"/>
            <a:ext cx="844783" cy="128240"/>
          </a:xfrm>
          <a:prstGeom prst="rect">
            <a:avLst/>
          </a:prstGeom>
          <a:noFill/>
          <a:ln/>
        </p:spPr>
        <p:txBody>
          <a:bodyPr wrap="none" lIns="0" tIns="0" rIns="0" bIns="0" rtlCol="0" anchor="t">
            <a:spAutoFit/>
          </a:bodyPr>
          <a:lstStyle/>
          <a:p>
            <a:pPr marL="0" indent="0" algn="l">
              <a:lnSpc>
                <a:spcPts val="1000"/>
              </a:lnSpc>
              <a:buNone/>
            </a:pPr>
            <a:r>
              <a:rPr lang="en-US" sz="1000" dirty="0">
                <a:solidFill>
                  <a:srgbClr val="2C3E50"/>
                </a:solidFill>
              </a:rPr>
              <a:t>(UK, n=156,947)</a:t>
            </a:r>
            <a:endParaRPr lang="en-US" sz="1000" dirty="0"/>
          </a:p>
        </p:txBody>
      </p:sp>
      <p:sp>
        <p:nvSpPr>
          <p:cNvPr id="35" name="Text 31"/>
          <p:cNvSpPr/>
          <p:nvPr/>
        </p:nvSpPr>
        <p:spPr>
          <a:xfrm>
            <a:off x="5956018" y="2160961"/>
            <a:ext cx="82781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29.5%</a:t>
            </a:r>
            <a:endParaRPr lang="en-US" sz="1000" dirty="0"/>
          </a:p>
        </p:txBody>
      </p:sp>
      <p:sp>
        <p:nvSpPr>
          <p:cNvPr id="36" name="Text 32"/>
          <p:cNvSpPr/>
          <p:nvPr/>
        </p:nvSpPr>
        <p:spPr>
          <a:xfrm>
            <a:off x="6783828" y="2160961"/>
            <a:ext cx="186011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Highest at 1st, gradual decline</a:t>
            </a:r>
            <a:endParaRPr lang="en-US" sz="1000" dirty="0"/>
          </a:p>
        </p:txBody>
      </p:sp>
      <p:sp>
        <p:nvSpPr>
          <p:cNvPr id="37" name="Text 33"/>
          <p:cNvSpPr/>
          <p:nvPr/>
        </p:nvSpPr>
        <p:spPr>
          <a:xfrm>
            <a:off x="4836319" y="2680692"/>
            <a:ext cx="567463" cy="128240"/>
          </a:xfrm>
          <a:prstGeom prst="rect">
            <a:avLst/>
          </a:prstGeom>
          <a:noFill/>
          <a:ln/>
        </p:spPr>
        <p:txBody>
          <a:bodyPr wrap="none" lIns="0" tIns="0" rIns="0" bIns="0" rtlCol="0" anchor="t">
            <a:spAutoFit/>
          </a:bodyPr>
          <a:lstStyle/>
          <a:p>
            <a:pPr marL="0" indent="0" algn="l">
              <a:lnSpc>
                <a:spcPts val="1000"/>
              </a:lnSpc>
              <a:buNone/>
            </a:pPr>
            <a:r>
              <a:rPr lang="en-US" sz="1000" dirty="0">
                <a:solidFill>
                  <a:srgbClr val="2C3E50"/>
                </a:solidFill>
              </a:rPr>
              <a:t>HFEA 2023</a:t>
            </a:r>
            <a:endParaRPr lang="en-US" sz="1000" dirty="0"/>
          </a:p>
        </p:txBody>
      </p:sp>
      <p:sp>
        <p:nvSpPr>
          <p:cNvPr id="38" name="Text 34"/>
          <p:cNvSpPr/>
          <p:nvPr/>
        </p:nvSpPr>
        <p:spPr>
          <a:xfrm>
            <a:off x="4836319" y="2827139"/>
            <a:ext cx="713337" cy="128240"/>
          </a:xfrm>
          <a:prstGeom prst="rect">
            <a:avLst/>
          </a:prstGeom>
          <a:noFill/>
          <a:ln/>
        </p:spPr>
        <p:txBody>
          <a:bodyPr wrap="none" lIns="0" tIns="0" rIns="0" bIns="0" rtlCol="0" anchor="t">
            <a:spAutoFit/>
          </a:bodyPr>
          <a:lstStyle/>
          <a:p>
            <a:pPr marL="0" indent="0" algn="l">
              <a:lnSpc>
                <a:spcPts val="1000"/>
              </a:lnSpc>
              <a:buNone/>
            </a:pPr>
            <a:r>
              <a:rPr lang="en-US" sz="1000" dirty="0">
                <a:solidFill>
                  <a:srgbClr val="2C3E50"/>
                </a:solidFill>
              </a:rPr>
              <a:t>National Data</a:t>
            </a:r>
            <a:endParaRPr lang="en-US" sz="1000" dirty="0"/>
          </a:p>
        </p:txBody>
      </p:sp>
      <p:sp>
        <p:nvSpPr>
          <p:cNvPr id="39" name="Text 35"/>
          <p:cNvSpPr/>
          <p:nvPr/>
        </p:nvSpPr>
        <p:spPr>
          <a:xfrm>
            <a:off x="5956018" y="2677098"/>
            <a:ext cx="82781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29-32%</a:t>
            </a:r>
            <a:endParaRPr lang="en-US" sz="1000" dirty="0"/>
          </a:p>
        </p:txBody>
      </p:sp>
      <p:sp>
        <p:nvSpPr>
          <p:cNvPr id="40" name="Text 36"/>
          <p:cNvSpPr/>
          <p:nvPr/>
        </p:nvSpPr>
        <p:spPr>
          <a:xfrm>
            <a:off x="6783828" y="2612978"/>
            <a:ext cx="1860110" cy="42832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Highest at 1st, age-dependent decline</a:t>
            </a:r>
            <a:endParaRPr lang="en-US" sz="1000" dirty="0"/>
          </a:p>
        </p:txBody>
      </p:sp>
      <p:sp>
        <p:nvSpPr>
          <p:cNvPr id="41" name="Shape 37"/>
          <p:cNvSpPr/>
          <p:nvPr/>
        </p:nvSpPr>
        <p:spPr>
          <a:xfrm>
            <a:off x="4750594" y="3048595"/>
            <a:ext cx="3893344" cy="439341"/>
          </a:xfrm>
          <a:prstGeom prst="rect">
            <a:avLst/>
          </a:prstGeom>
          <a:solidFill>
            <a:srgbClr val="F0F9F9"/>
          </a:solidFill>
          <a:ln/>
        </p:spPr>
      </p:sp>
      <p:sp>
        <p:nvSpPr>
          <p:cNvPr id="42" name="Text 38"/>
          <p:cNvSpPr/>
          <p:nvPr/>
        </p:nvSpPr>
        <p:spPr>
          <a:xfrm>
            <a:off x="4836319" y="3123605"/>
            <a:ext cx="793487" cy="128240"/>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2C3E50"/>
                </a:solidFill>
              </a:rPr>
              <a:t>Our 2017-2018</a:t>
            </a:r>
            <a:endParaRPr lang="en-US" sz="1000" dirty="0"/>
          </a:p>
        </p:txBody>
      </p:sp>
      <p:sp>
        <p:nvSpPr>
          <p:cNvPr id="43" name="Text 39"/>
          <p:cNvSpPr/>
          <p:nvPr/>
        </p:nvSpPr>
        <p:spPr>
          <a:xfrm>
            <a:off x="4836319" y="3270052"/>
            <a:ext cx="250068" cy="128240"/>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2C3E50"/>
                </a:solidFill>
              </a:rPr>
              <a:t>Data</a:t>
            </a:r>
            <a:endParaRPr lang="en-US" sz="1000" dirty="0"/>
          </a:p>
        </p:txBody>
      </p:sp>
      <p:sp>
        <p:nvSpPr>
          <p:cNvPr id="44" name="Text 40"/>
          <p:cNvSpPr/>
          <p:nvPr/>
        </p:nvSpPr>
        <p:spPr>
          <a:xfrm>
            <a:off x="5956018" y="3118224"/>
            <a:ext cx="82781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22.3%</a:t>
            </a:r>
            <a:endParaRPr lang="en-US" sz="1000" dirty="0"/>
          </a:p>
        </p:txBody>
      </p:sp>
      <p:sp>
        <p:nvSpPr>
          <p:cNvPr id="45" name="Text 41"/>
          <p:cNvSpPr/>
          <p:nvPr/>
        </p:nvSpPr>
        <p:spPr>
          <a:xfrm>
            <a:off x="6783828" y="3118224"/>
            <a:ext cx="186011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FF6B6B"/>
                </a:solidFill>
              </a:rPr>
              <a:t>Peak at 2nd cycle</a:t>
            </a:r>
            <a:endParaRPr lang="en-US" sz="1000" dirty="0"/>
          </a:p>
        </p:txBody>
      </p:sp>
      <p:sp>
        <p:nvSpPr>
          <p:cNvPr id="46" name="Shape 42"/>
          <p:cNvSpPr/>
          <p:nvPr/>
        </p:nvSpPr>
        <p:spPr>
          <a:xfrm>
            <a:off x="4750593" y="3630811"/>
            <a:ext cx="4116959" cy="1418034"/>
          </a:xfrm>
          <a:prstGeom prst="rect">
            <a:avLst/>
          </a:prstGeom>
          <a:solidFill>
            <a:srgbClr val="FFF9E6"/>
          </a:solidFill>
          <a:ln/>
        </p:spPr>
      </p:sp>
      <p:sp>
        <p:nvSpPr>
          <p:cNvPr id="47" name="Text 43"/>
          <p:cNvSpPr/>
          <p:nvPr/>
        </p:nvSpPr>
        <p:spPr>
          <a:xfrm>
            <a:off x="4893469" y="3737967"/>
            <a:ext cx="695703" cy="115416"/>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B8860B"/>
                </a:solidFill>
              </a:rPr>
              <a:t>Critical Note:</a:t>
            </a:r>
            <a:endParaRPr lang="en-US" sz="1000" dirty="0"/>
          </a:p>
        </p:txBody>
      </p:sp>
      <p:sp>
        <p:nvSpPr>
          <p:cNvPr id="48" name="Text 44"/>
          <p:cNvSpPr/>
          <p:nvPr/>
        </p:nvSpPr>
        <p:spPr>
          <a:xfrm>
            <a:off x="4893469" y="3936206"/>
            <a:ext cx="3749424"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Our finding of 2nd cycle peak contradicts established literature. Possible</a:t>
            </a:r>
            <a:endParaRPr lang="en-US" sz="1000" dirty="0"/>
          </a:p>
        </p:txBody>
      </p:sp>
      <p:sp>
        <p:nvSpPr>
          <p:cNvPr id="49" name="Text 45"/>
          <p:cNvSpPr/>
          <p:nvPr/>
        </p:nvSpPr>
        <p:spPr>
          <a:xfrm>
            <a:off x="4893469" y="4075509"/>
            <a:ext cx="695703"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explanations:</a:t>
            </a:r>
            <a:endParaRPr lang="en-US" sz="1000" dirty="0"/>
          </a:p>
        </p:txBody>
      </p:sp>
      <p:sp>
        <p:nvSpPr>
          <p:cNvPr id="50" name="Text 46"/>
          <p:cNvSpPr/>
          <p:nvPr/>
        </p:nvSpPr>
        <p:spPr>
          <a:xfrm>
            <a:off x="5036344" y="4266605"/>
            <a:ext cx="3153107"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Different outcome measures (clinical pregnancy vs live birth)</a:t>
            </a:r>
            <a:endParaRPr lang="en-US" sz="1000" dirty="0"/>
          </a:p>
        </p:txBody>
      </p:sp>
      <p:sp>
        <p:nvSpPr>
          <p:cNvPr id="51" name="Text 47"/>
          <p:cNvSpPr/>
          <p:nvPr/>
        </p:nvSpPr>
        <p:spPr>
          <a:xfrm>
            <a:off x="5036344" y="4434483"/>
            <a:ext cx="1562928"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Cohort-specific characteristics</a:t>
            </a:r>
            <a:endParaRPr lang="en-US" sz="1000" dirty="0"/>
          </a:p>
        </p:txBody>
      </p:sp>
      <p:sp>
        <p:nvSpPr>
          <p:cNvPr id="52" name="Text 48"/>
          <p:cNvSpPr/>
          <p:nvPr/>
        </p:nvSpPr>
        <p:spPr>
          <a:xfrm>
            <a:off x="5036344" y="4602361"/>
            <a:ext cx="965008"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Data quality issues</a:t>
            </a:r>
            <a:endParaRPr lang="en-US" sz="1000" dirty="0"/>
          </a:p>
        </p:txBody>
      </p:sp>
      <p:sp>
        <p:nvSpPr>
          <p:cNvPr id="53" name="Text 49"/>
          <p:cNvSpPr/>
          <p:nvPr/>
        </p:nvSpPr>
        <p:spPr>
          <a:xfrm>
            <a:off x="4893469" y="4775597"/>
            <a:ext cx="3738203"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This discrepancy warrants further investigation but does not alter policy</a:t>
            </a:r>
            <a:endParaRPr lang="en-US" sz="1000" dirty="0"/>
          </a:p>
        </p:txBody>
      </p:sp>
      <p:sp>
        <p:nvSpPr>
          <p:cNvPr id="54" name="Text 50"/>
          <p:cNvSpPr/>
          <p:nvPr/>
        </p:nvSpPr>
        <p:spPr>
          <a:xfrm>
            <a:off x="4893469" y="4914900"/>
            <a:ext cx="634789" cy="141064"/>
          </a:xfrm>
          <a:prstGeom prst="rect">
            <a:avLst/>
          </a:prstGeom>
          <a:noFill/>
          <a:ln/>
        </p:spPr>
        <p:txBody>
          <a:bodyPr wrap="none" lIns="0" tIns="0" rIns="0" bIns="0" rtlCol="0" anchor="t">
            <a:spAutoFit/>
          </a:bodyPr>
          <a:lstStyle/>
          <a:p>
            <a:pPr marL="0" indent="0" algn="l">
              <a:lnSpc>
                <a:spcPts val="1100"/>
              </a:lnSpc>
              <a:buNone/>
            </a:pPr>
            <a:r>
              <a:rPr lang="en-US" sz="1000" dirty="0">
                <a:solidFill>
                  <a:srgbClr val="5A6C7D"/>
                </a:solidFill>
              </a:rPr>
              <a:t>conclusions.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49126" y="-633"/>
            <a:ext cx="9144000" cy="5143500"/>
          </a:xfrm>
          <a:prstGeom prst="rect">
            <a:avLst/>
          </a:prstGeom>
        </p:spPr>
      </p:pic>
      <p:sp>
        <p:nvSpPr>
          <p:cNvPr id="3" name="Text 0"/>
          <p:cNvSpPr/>
          <p:nvPr/>
        </p:nvSpPr>
        <p:spPr>
          <a:xfrm>
            <a:off x="468174" y="471022"/>
            <a:ext cx="8175764" cy="307777"/>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Cumulative Success - The Policy-Relevant Metric</a:t>
            </a:r>
            <a:endParaRPr lang="en-US" sz="3200" dirty="0"/>
          </a:p>
        </p:txBody>
      </p:sp>
      <p:sp>
        <p:nvSpPr>
          <p:cNvPr id="4" name="Text 1"/>
          <p:cNvSpPr/>
          <p:nvPr/>
        </p:nvSpPr>
        <p:spPr>
          <a:xfrm>
            <a:off x="500063" y="885825"/>
            <a:ext cx="8173712" cy="166712"/>
          </a:xfrm>
          <a:prstGeom prst="rect">
            <a:avLst/>
          </a:prstGeom>
          <a:noFill/>
          <a:ln/>
        </p:spPr>
        <p:txBody>
          <a:bodyPr wrap="none" lIns="0" tIns="0" rIns="0" bIns="0" rtlCol="0" anchor="t">
            <a:spAutoFit/>
          </a:bodyPr>
          <a:lstStyle/>
          <a:p>
            <a:pPr marL="0" indent="0" algn="l">
              <a:lnSpc>
                <a:spcPts val="1300"/>
              </a:lnSpc>
              <a:buNone/>
            </a:pPr>
            <a:r>
              <a:rPr lang="en-US" sz="1100" b="1" dirty="0">
                <a:solidFill>
                  <a:srgbClr val="5A6C7D"/>
                </a:solidFill>
              </a:rPr>
              <a:t>Key Insight: Per-cycle rates tell only part of the story. Cumulative success rates demonstrate IVF is a course of treatment, not a single event.</a:t>
            </a:r>
            <a:endParaRPr lang="en-US" sz="1100" dirty="0"/>
          </a:p>
        </p:txBody>
      </p:sp>
      <p:sp>
        <p:nvSpPr>
          <p:cNvPr id="5" name="Text 2"/>
          <p:cNvSpPr/>
          <p:nvPr/>
        </p:nvSpPr>
        <p:spPr>
          <a:xfrm>
            <a:off x="500063" y="1260872"/>
            <a:ext cx="3703514" cy="179536"/>
          </a:xfrm>
          <a:prstGeom prst="rect">
            <a:avLst/>
          </a:prstGeom>
          <a:noFill/>
          <a:ln/>
        </p:spPr>
        <p:txBody>
          <a:bodyPr wrap="none" lIns="0" tIns="0" rIns="0" bIns="0" rtlCol="0" anchor="t">
            <a:spAutoFit/>
          </a:bodyPr>
          <a:lstStyle/>
          <a:p>
            <a:pPr marL="0" indent="0" algn="l">
              <a:lnSpc>
                <a:spcPts val="1400"/>
              </a:lnSpc>
              <a:buNone/>
            </a:pPr>
            <a:r>
              <a:rPr lang="en-US" sz="1400" b="1" dirty="0">
                <a:solidFill>
                  <a:srgbClr val="2C3E50"/>
                </a:solidFill>
              </a:rPr>
              <a:t>Published Cumulative Live-Birth Rates (Literature)</a:t>
            </a:r>
            <a:endParaRPr lang="en-US" sz="1400" dirty="0"/>
          </a:p>
        </p:txBody>
      </p:sp>
      <p:sp>
        <p:nvSpPr>
          <p:cNvPr id="6" name="Shape 3"/>
          <p:cNvSpPr/>
          <p:nvPr/>
        </p:nvSpPr>
        <p:spPr>
          <a:xfrm>
            <a:off x="500063" y="1598414"/>
            <a:ext cx="1599140" cy="321469"/>
          </a:xfrm>
          <a:prstGeom prst="rect">
            <a:avLst/>
          </a:prstGeom>
          <a:solidFill>
            <a:srgbClr val="E8F4F4"/>
          </a:solidFill>
          <a:ln/>
        </p:spPr>
      </p:sp>
      <p:sp>
        <p:nvSpPr>
          <p:cNvPr id="7" name="Text 4"/>
          <p:cNvSpPr/>
          <p:nvPr/>
        </p:nvSpPr>
        <p:spPr>
          <a:xfrm>
            <a:off x="500063" y="1591924"/>
            <a:ext cx="1599140" cy="334451"/>
          </a:xfrm>
          <a:prstGeom prst="rect">
            <a:avLst/>
          </a:prstGeom>
          <a:noFill/>
          <a:ln/>
        </p:spPr>
        <p:txBody>
          <a:bodyPr wrap="square" lIns="102108" tIns="102108" rIns="102108" bIns="102108" rtlCol="0" anchor="ctr">
            <a:spAutoFit/>
          </a:bodyPr>
          <a:lstStyle/>
          <a:p>
            <a:pPr marL="0" indent="0" algn="l">
              <a:lnSpc>
                <a:spcPts val="1000"/>
              </a:lnSpc>
              <a:buNone/>
            </a:pPr>
            <a:r>
              <a:rPr lang="en-US" sz="1100" b="1" dirty="0">
                <a:solidFill>
                  <a:srgbClr val="0D7377"/>
                </a:solidFill>
              </a:rPr>
              <a:t>Number of Cycles</a:t>
            </a:r>
            <a:endParaRPr lang="en-US" sz="1100" dirty="0"/>
          </a:p>
        </p:txBody>
      </p:sp>
      <p:sp>
        <p:nvSpPr>
          <p:cNvPr id="8" name="Shape 5"/>
          <p:cNvSpPr/>
          <p:nvPr/>
        </p:nvSpPr>
        <p:spPr>
          <a:xfrm>
            <a:off x="2099202" y="1598414"/>
            <a:ext cx="1147074" cy="321469"/>
          </a:xfrm>
          <a:prstGeom prst="rect">
            <a:avLst/>
          </a:prstGeom>
          <a:solidFill>
            <a:srgbClr val="E8F4F4"/>
          </a:solidFill>
          <a:ln/>
        </p:spPr>
      </p:sp>
      <p:sp>
        <p:nvSpPr>
          <p:cNvPr id="9" name="Text 6"/>
          <p:cNvSpPr/>
          <p:nvPr/>
        </p:nvSpPr>
        <p:spPr>
          <a:xfrm>
            <a:off x="2099202" y="1591923"/>
            <a:ext cx="1147074" cy="334451"/>
          </a:xfrm>
          <a:prstGeom prst="rect">
            <a:avLst/>
          </a:prstGeom>
          <a:noFill/>
          <a:ln/>
        </p:spPr>
        <p:txBody>
          <a:bodyPr wrap="square" lIns="102108" tIns="102108" rIns="102108" bIns="102108" rtlCol="0" anchor="ctr">
            <a:spAutoFit/>
          </a:bodyPr>
          <a:lstStyle/>
          <a:p>
            <a:pPr marL="0" indent="0" algn="l">
              <a:lnSpc>
                <a:spcPts val="1000"/>
              </a:lnSpc>
              <a:buNone/>
            </a:pPr>
            <a:r>
              <a:rPr lang="en-US" sz="1100" b="1" dirty="0">
                <a:solidFill>
                  <a:srgbClr val="0D7377"/>
                </a:solidFill>
              </a:rPr>
              <a:t>Women &lt;35</a:t>
            </a:r>
            <a:endParaRPr lang="en-US" sz="1100" dirty="0"/>
          </a:p>
        </p:txBody>
      </p:sp>
      <p:sp>
        <p:nvSpPr>
          <p:cNvPr id="10" name="Shape 7"/>
          <p:cNvSpPr/>
          <p:nvPr/>
        </p:nvSpPr>
        <p:spPr>
          <a:xfrm>
            <a:off x="3246276" y="1598414"/>
            <a:ext cx="1147130" cy="321469"/>
          </a:xfrm>
          <a:prstGeom prst="rect">
            <a:avLst/>
          </a:prstGeom>
          <a:solidFill>
            <a:srgbClr val="E8F4F4"/>
          </a:solidFill>
          <a:ln/>
        </p:spPr>
      </p:sp>
      <p:sp>
        <p:nvSpPr>
          <p:cNvPr id="11" name="Text 8"/>
          <p:cNvSpPr/>
          <p:nvPr/>
        </p:nvSpPr>
        <p:spPr>
          <a:xfrm>
            <a:off x="3246276" y="1591923"/>
            <a:ext cx="1147130" cy="334451"/>
          </a:xfrm>
          <a:prstGeom prst="rect">
            <a:avLst/>
          </a:prstGeom>
          <a:noFill/>
          <a:ln/>
        </p:spPr>
        <p:txBody>
          <a:bodyPr wrap="square" lIns="102108" tIns="102108" rIns="102108" bIns="102108" rtlCol="0" anchor="ctr">
            <a:spAutoFit/>
          </a:bodyPr>
          <a:lstStyle/>
          <a:p>
            <a:pPr marL="0" indent="0" algn="l">
              <a:lnSpc>
                <a:spcPts val="1000"/>
              </a:lnSpc>
              <a:buNone/>
            </a:pPr>
            <a:r>
              <a:rPr lang="en-US" sz="1100" b="1" dirty="0">
                <a:solidFill>
                  <a:srgbClr val="0D7377"/>
                </a:solidFill>
              </a:rPr>
              <a:t>Women 40+</a:t>
            </a:r>
            <a:endParaRPr lang="en-US" sz="1100" dirty="0"/>
          </a:p>
        </p:txBody>
      </p:sp>
      <p:sp>
        <p:nvSpPr>
          <p:cNvPr id="12" name="Text 9"/>
          <p:cNvSpPr/>
          <p:nvPr/>
        </p:nvSpPr>
        <p:spPr>
          <a:xfrm>
            <a:off x="500063" y="1918075"/>
            <a:ext cx="1599140"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1 cycle</a:t>
            </a:r>
            <a:endParaRPr lang="en-US" sz="1100" dirty="0"/>
          </a:p>
        </p:txBody>
      </p:sp>
      <p:sp>
        <p:nvSpPr>
          <p:cNvPr id="13" name="Text 10"/>
          <p:cNvSpPr/>
          <p:nvPr/>
        </p:nvSpPr>
        <p:spPr>
          <a:xfrm>
            <a:off x="2099202" y="1918075"/>
            <a:ext cx="1147074"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~32%</a:t>
            </a:r>
            <a:endParaRPr lang="en-US" sz="1100" dirty="0"/>
          </a:p>
        </p:txBody>
      </p:sp>
      <p:sp>
        <p:nvSpPr>
          <p:cNvPr id="14" name="Text 11"/>
          <p:cNvSpPr/>
          <p:nvPr/>
        </p:nvSpPr>
        <p:spPr>
          <a:xfrm>
            <a:off x="3246276" y="1918075"/>
            <a:ext cx="1147130"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~12%</a:t>
            </a:r>
            <a:endParaRPr lang="en-US" sz="1100" dirty="0"/>
          </a:p>
        </p:txBody>
      </p:sp>
      <p:sp>
        <p:nvSpPr>
          <p:cNvPr id="15" name="Text 12"/>
          <p:cNvSpPr/>
          <p:nvPr/>
        </p:nvSpPr>
        <p:spPr>
          <a:xfrm>
            <a:off x="500063" y="2214540"/>
            <a:ext cx="1599140"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3 cycles</a:t>
            </a:r>
            <a:endParaRPr lang="en-US" sz="1100" dirty="0"/>
          </a:p>
        </p:txBody>
      </p:sp>
      <p:sp>
        <p:nvSpPr>
          <p:cNvPr id="16" name="Shape 13"/>
          <p:cNvSpPr/>
          <p:nvPr/>
        </p:nvSpPr>
        <p:spPr>
          <a:xfrm>
            <a:off x="2099202" y="2216348"/>
            <a:ext cx="1147074" cy="296466"/>
          </a:xfrm>
          <a:prstGeom prst="rect">
            <a:avLst/>
          </a:prstGeom>
          <a:solidFill>
            <a:srgbClr val="F0F9F9"/>
          </a:solidFill>
          <a:ln/>
        </p:spPr>
      </p:sp>
      <p:sp>
        <p:nvSpPr>
          <p:cNvPr id="17" name="Shape 14"/>
          <p:cNvSpPr/>
          <p:nvPr/>
        </p:nvSpPr>
        <p:spPr>
          <a:xfrm>
            <a:off x="2099202" y="2216348"/>
            <a:ext cx="1147074" cy="7144"/>
          </a:xfrm>
          <a:prstGeom prst="rect">
            <a:avLst/>
          </a:prstGeom>
          <a:solidFill>
            <a:srgbClr val="E0E6ED"/>
          </a:solidFill>
          <a:ln/>
        </p:spPr>
      </p:sp>
      <p:sp>
        <p:nvSpPr>
          <p:cNvPr id="18" name="Text 15"/>
          <p:cNvSpPr/>
          <p:nvPr/>
        </p:nvSpPr>
        <p:spPr>
          <a:xfrm>
            <a:off x="2099202" y="2214540"/>
            <a:ext cx="1147074"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b="1" dirty="0">
                <a:solidFill>
                  <a:srgbClr val="0D7377"/>
                </a:solidFill>
              </a:rPr>
              <a:t>~61%</a:t>
            </a:r>
            <a:endParaRPr lang="en-US" sz="1100" dirty="0"/>
          </a:p>
        </p:txBody>
      </p:sp>
      <p:sp>
        <p:nvSpPr>
          <p:cNvPr id="19" name="Text 16"/>
          <p:cNvSpPr/>
          <p:nvPr/>
        </p:nvSpPr>
        <p:spPr>
          <a:xfrm>
            <a:off x="3246276" y="2214540"/>
            <a:ext cx="1147130"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~20%</a:t>
            </a:r>
            <a:endParaRPr lang="en-US" sz="1100" dirty="0"/>
          </a:p>
        </p:txBody>
      </p:sp>
      <p:sp>
        <p:nvSpPr>
          <p:cNvPr id="20" name="Text 17"/>
          <p:cNvSpPr/>
          <p:nvPr/>
        </p:nvSpPr>
        <p:spPr>
          <a:xfrm>
            <a:off x="500063" y="2509220"/>
            <a:ext cx="1599140"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6 cycles</a:t>
            </a:r>
            <a:endParaRPr lang="en-US" sz="1100" dirty="0"/>
          </a:p>
        </p:txBody>
      </p:sp>
      <p:sp>
        <p:nvSpPr>
          <p:cNvPr id="21" name="Text 18"/>
          <p:cNvSpPr/>
          <p:nvPr/>
        </p:nvSpPr>
        <p:spPr>
          <a:xfrm>
            <a:off x="2099202" y="2509220"/>
            <a:ext cx="1147074"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68-86%</a:t>
            </a:r>
            <a:endParaRPr lang="en-US" sz="1100" dirty="0"/>
          </a:p>
        </p:txBody>
      </p:sp>
      <p:sp>
        <p:nvSpPr>
          <p:cNvPr id="22" name="Text 19"/>
          <p:cNvSpPr/>
          <p:nvPr/>
        </p:nvSpPr>
        <p:spPr>
          <a:xfrm>
            <a:off x="3246276" y="2509220"/>
            <a:ext cx="1147130" cy="300082"/>
          </a:xfrm>
          <a:prstGeom prst="rect">
            <a:avLst/>
          </a:prstGeom>
          <a:noFill/>
          <a:ln/>
        </p:spPr>
        <p:txBody>
          <a:bodyPr wrap="square" lIns="102108" tIns="85090" rIns="102108" bIns="85090" rtlCol="0" anchor="ctr">
            <a:spAutoFit/>
          </a:bodyPr>
          <a:lstStyle/>
          <a:p>
            <a:pPr marL="0" indent="0" algn="l">
              <a:lnSpc>
                <a:spcPts val="1000"/>
              </a:lnSpc>
              <a:buNone/>
            </a:pPr>
            <a:r>
              <a:rPr lang="en-US" sz="1100" dirty="0">
                <a:solidFill>
                  <a:srgbClr val="2C3E50"/>
                </a:solidFill>
              </a:rPr>
              <a:t>23-42%</a:t>
            </a:r>
            <a:endParaRPr lang="en-US" sz="1100" dirty="0"/>
          </a:p>
        </p:txBody>
      </p:sp>
      <p:sp>
        <p:nvSpPr>
          <p:cNvPr id="23" name="Text 20"/>
          <p:cNvSpPr/>
          <p:nvPr/>
        </p:nvSpPr>
        <p:spPr>
          <a:xfrm>
            <a:off x="500063" y="2948583"/>
            <a:ext cx="3262111" cy="115416"/>
          </a:xfrm>
          <a:prstGeom prst="rect">
            <a:avLst/>
          </a:prstGeom>
          <a:noFill/>
          <a:ln/>
        </p:spPr>
        <p:txBody>
          <a:bodyPr wrap="none" lIns="0" tIns="0" rIns="0" bIns="0" rtlCol="0" anchor="t">
            <a:spAutoFit/>
          </a:bodyPr>
          <a:lstStyle/>
          <a:p>
            <a:pPr marL="0" indent="0" algn="l">
              <a:lnSpc>
                <a:spcPts val="900"/>
              </a:lnSpc>
              <a:buNone/>
            </a:pPr>
            <a:r>
              <a:rPr lang="en-US" sz="1100" i="1" dirty="0">
                <a:solidFill>
                  <a:srgbClr val="7A8A9E"/>
                </a:solidFill>
              </a:rPr>
              <a:t>Source: Malizia et al. NEJM 2009; Smith et al. JAMA 2015</a:t>
            </a:r>
            <a:endParaRPr lang="en-US" sz="1100" dirty="0"/>
          </a:p>
        </p:txBody>
      </p:sp>
      <p:sp>
        <p:nvSpPr>
          <p:cNvPr id="24" name="Text 21"/>
          <p:cNvSpPr/>
          <p:nvPr/>
        </p:nvSpPr>
        <p:spPr>
          <a:xfrm>
            <a:off x="4750594" y="1260872"/>
            <a:ext cx="2620589" cy="179536"/>
          </a:xfrm>
          <a:prstGeom prst="rect">
            <a:avLst/>
          </a:prstGeom>
          <a:noFill/>
          <a:ln/>
        </p:spPr>
        <p:txBody>
          <a:bodyPr wrap="none" lIns="0" tIns="0" rIns="0" bIns="0" rtlCol="0" anchor="t">
            <a:spAutoFit/>
          </a:bodyPr>
          <a:lstStyle/>
          <a:p>
            <a:pPr marL="0" indent="0" algn="l">
              <a:lnSpc>
                <a:spcPts val="1400"/>
              </a:lnSpc>
              <a:buNone/>
            </a:pPr>
            <a:r>
              <a:rPr lang="en-US" sz="1400" b="1" dirty="0">
                <a:solidFill>
                  <a:srgbClr val="2C3E50"/>
                </a:solidFill>
              </a:rPr>
              <a:t>Our Continuation Data (2017-2018)</a:t>
            </a:r>
            <a:endParaRPr lang="en-US" sz="1400" dirty="0"/>
          </a:p>
        </p:txBody>
      </p:sp>
      <p:sp>
        <p:nvSpPr>
          <p:cNvPr id="25" name="Text 22"/>
          <p:cNvSpPr/>
          <p:nvPr/>
        </p:nvSpPr>
        <p:spPr>
          <a:xfrm>
            <a:off x="4750594" y="1598414"/>
            <a:ext cx="70532"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14A098"/>
                </a:solidFill>
              </a:rPr>
              <a:t>•</a:t>
            </a:r>
            <a:endParaRPr lang="en-US" sz="1100" dirty="0"/>
          </a:p>
        </p:txBody>
      </p:sp>
      <p:sp>
        <p:nvSpPr>
          <p:cNvPr id="26" name="Text 23"/>
          <p:cNvSpPr/>
          <p:nvPr/>
        </p:nvSpPr>
        <p:spPr>
          <a:xfrm>
            <a:off x="4893469" y="1610916"/>
            <a:ext cx="1532471" cy="179536"/>
          </a:xfrm>
          <a:prstGeom prst="rect">
            <a:avLst/>
          </a:prstGeom>
          <a:noFill/>
          <a:ln/>
        </p:spPr>
        <p:txBody>
          <a:bodyPr wrap="none" lIns="0" tIns="0" rIns="0" bIns="0" rtlCol="0" anchor="t">
            <a:spAutoFit/>
          </a:bodyPr>
          <a:lstStyle/>
          <a:p>
            <a:pPr marL="0" indent="0" algn="l">
              <a:lnSpc>
                <a:spcPts val="1400"/>
              </a:lnSpc>
              <a:buNone/>
            </a:pPr>
            <a:r>
              <a:rPr lang="en-US" sz="1100" dirty="0">
                <a:solidFill>
                  <a:srgbClr val="2C3E50"/>
                </a:solidFill>
              </a:rPr>
              <a:t>Average continuation rate:</a:t>
            </a:r>
            <a:endParaRPr lang="en-US" sz="1100" dirty="0"/>
          </a:p>
        </p:txBody>
      </p:sp>
      <p:sp>
        <p:nvSpPr>
          <p:cNvPr id="27" name="Text 24"/>
          <p:cNvSpPr/>
          <p:nvPr/>
        </p:nvSpPr>
        <p:spPr>
          <a:xfrm>
            <a:off x="6498283" y="1591923"/>
            <a:ext cx="357470"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0D7377"/>
                </a:solidFill>
              </a:rPr>
              <a:t>57.1%</a:t>
            </a:r>
            <a:endParaRPr lang="en-US" sz="1100" dirty="0"/>
          </a:p>
        </p:txBody>
      </p:sp>
      <p:sp>
        <p:nvSpPr>
          <p:cNvPr id="28" name="Text 25"/>
          <p:cNvSpPr/>
          <p:nvPr/>
        </p:nvSpPr>
        <p:spPr>
          <a:xfrm>
            <a:off x="6932825" y="1606873"/>
            <a:ext cx="1476366" cy="179536"/>
          </a:xfrm>
          <a:prstGeom prst="rect">
            <a:avLst/>
          </a:prstGeom>
          <a:noFill/>
          <a:ln/>
        </p:spPr>
        <p:txBody>
          <a:bodyPr wrap="none" lIns="0" tIns="0" rIns="0" bIns="0" rtlCol="0" anchor="t">
            <a:spAutoFit/>
          </a:bodyPr>
          <a:lstStyle/>
          <a:p>
            <a:pPr marL="0" indent="0" algn="l">
              <a:lnSpc>
                <a:spcPts val="1400"/>
              </a:lnSpc>
              <a:buNone/>
            </a:pPr>
            <a:r>
              <a:rPr lang="en-US" sz="1100" dirty="0">
                <a:solidFill>
                  <a:srgbClr val="2C3E50"/>
                </a:solidFill>
              </a:rPr>
              <a:t>across all cycle transitions</a:t>
            </a:r>
            <a:endParaRPr lang="en-US" sz="1100" dirty="0"/>
          </a:p>
        </p:txBody>
      </p:sp>
      <p:sp>
        <p:nvSpPr>
          <p:cNvPr id="29" name="Text 26"/>
          <p:cNvSpPr/>
          <p:nvPr/>
        </p:nvSpPr>
        <p:spPr>
          <a:xfrm>
            <a:off x="4750594" y="1841302"/>
            <a:ext cx="70532"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14A098"/>
                </a:solidFill>
              </a:rPr>
              <a:t>•</a:t>
            </a:r>
            <a:endParaRPr lang="en-US" sz="1100" dirty="0"/>
          </a:p>
        </p:txBody>
      </p:sp>
      <p:sp>
        <p:nvSpPr>
          <p:cNvPr id="30" name="Text 27"/>
          <p:cNvSpPr/>
          <p:nvPr/>
        </p:nvSpPr>
        <p:spPr>
          <a:xfrm>
            <a:off x="4893469" y="1853803"/>
            <a:ext cx="3659656" cy="179536"/>
          </a:xfrm>
          <a:prstGeom prst="rect">
            <a:avLst/>
          </a:prstGeom>
          <a:noFill/>
          <a:ln/>
        </p:spPr>
        <p:txBody>
          <a:bodyPr wrap="none" lIns="0" tIns="0" rIns="0" bIns="0" rtlCol="0" anchor="t">
            <a:spAutoFit/>
          </a:bodyPr>
          <a:lstStyle/>
          <a:p>
            <a:pPr marL="0" indent="0" algn="l">
              <a:lnSpc>
                <a:spcPts val="1400"/>
              </a:lnSpc>
              <a:buNone/>
            </a:pPr>
            <a:r>
              <a:rPr lang="en-US" sz="1100" dirty="0">
                <a:solidFill>
                  <a:srgbClr val="2C3E50"/>
                </a:solidFill>
              </a:rPr>
              <a:t>Consistent 56-59% continuation regardless of previous outcome</a:t>
            </a:r>
            <a:endParaRPr lang="en-US" sz="1100" dirty="0"/>
          </a:p>
        </p:txBody>
      </p:sp>
      <p:pic>
        <p:nvPicPr>
          <p:cNvPr id="31" name="Image 1" descr="preencoded.png"/>
          <p:cNvPicPr>
            <a:picLocks noChangeAspect="1"/>
          </p:cNvPicPr>
          <p:nvPr/>
        </p:nvPicPr>
        <p:blipFill>
          <a:blip r:embed="rId4"/>
          <a:stretch>
            <a:fillRect/>
          </a:stretch>
        </p:blipFill>
        <p:spPr>
          <a:xfrm>
            <a:off x="4750594" y="2155627"/>
            <a:ext cx="3893344" cy="1285875"/>
          </a:xfrm>
          <a:prstGeom prst="rect">
            <a:avLst/>
          </a:prstGeom>
        </p:spPr>
      </p:pic>
      <p:sp>
        <p:nvSpPr>
          <p:cNvPr id="32" name="Shape 28"/>
          <p:cNvSpPr/>
          <p:nvPr/>
        </p:nvSpPr>
        <p:spPr>
          <a:xfrm>
            <a:off x="500063" y="3595179"/>
            <a:ext cx="8143875" cy="944924"/>
          </a:xfrm>
          <a:prstGeom prst="rect">
            <a:avLst/>
          </a:prstGeom>
          <a:solidFill>
            <a:srgbClr val="E8F4F4"/>
          </a:solidFill>
          <a:ln/>
        </p:spPr>
      </p:sp>
      <p:sp>
        <p:nvSpPr>
          <p:cNvPr id="33" name="Text 29"/>
          <p:cNvSpPr/>
          <p:nvPr/>
        </p:nvSpPr>
        <p:spPr>
          <a:xfrm>
            <a:off x="678656" y="3870127"/>
            <a:ext cx="1041952" cy="128240"/>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0D7377"/>
                </a:solidFill>
              </a:rPr>
              <a:t>Context for Policy</a:t>
            </a:r>
            <a:endParaRPr lang="en-US" sz="1100" dirty="0"/>
          </a:p>
        </p:txBody>
      </p:sp>
      <p:sp>
        <p:nvSpPr>
          <p:cNvPr id="34" name="Text 30"/>
          <p:cNvSpPr/>
          <p:nvPr/>
        </p:nvSpPr>
        <p:spPr>
          <a:xfrm>
            <a:off x="678656" y="4088011"/>
            <a:ext cx="7786688" cy="500137"/>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2C3E50"/>
                </a:solidFill>
              </a:rPr>
              <a:t>With 61% cumulative success after 3 cycles for women under 35, the NICE recommendation of 3 funded cycles captures majority of potential successes while managing resource allocation. Our data showing 85% of patients exit by end of 3rd cycle supports this threshold.</a:t>
            </a:r>
            <a:endParaRPr lang="en-US" sz="11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28625"/>
            <a:ext cx="6856813" cy="339195"/>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Age - The Dominant Predictor of Success</a:t>
            </a:r>
            <a:endParaRPr lang="en-US" sz="3200" dirty="0"/>
          </a:p>
        </p:txBody>
      </p:sp>
      <p:sp>
        <p:nvSpPr>
          <p:cNvPr id="4" name="Text 1"/>
          <p:cNvSpPr/>
          <p:nvPr/>
        </p:nvSpPr>
        <p:spPr>
          <a:xfrm>
            <a:off x="500063" y="850106"/>
            <a:ext cx="7122143" cy="128240"/>
          </a:xfrm>
          <a:prstGeom prst="rect">
            <a:avLst/>
          </a:prstGeom>
          <a:noFill/>
          <a:ln/>
        </p:spPr>
        <p:txBody>
          <a:bodyPr wrap="none" lIns="0" tIns="0" rIns="0" bIns="0" rtlCol="0" anchor="t">
            <a:spAutoFit/>
          </a:bodyPr>
          <a:lstStyle/>
          <a:p>
            <a:pPr marL="0" indent="0" algn="l">
              <a:lnSpc>
                <a:spcPts val="1000"/>
              </a:lnSpc>
              <a:buNone/>
            </a:pPr>
            <a:r>
              <a:rPr lang="en-US" sz="1100" dirty="0">
                <a:solidFill>
                  <a:srgbClr val="5A6C7D"/>
                </a:solidFill>
              </a:rPr>
              <a:t>Critical Finding: Patient age increases 11% across treatment cycles (32.5→36.1 years), confounding direct cycle comparisons.</a:t>
            </a:r>
            <a:endParaRPr lang="en-US" sz="1100" dirty="0"/>
          </a:p>
        </p:txBody>
      </p:sp>
      <p:sp>
        <p:nvSpPr>
          <p:cNvPr id="5" name="Text 2"/>
          <p:cNvSpPr/>
          <p:nvPr/>
        </p:nvSpPr>
        <p:spPr>
          <a:xfrm>
            <a:off x="500063" y="1255514"/>
            <a:ext cx="3143489"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2C3E50"/>
                </a:solidFill>
              </a:rPr>
              <a:t>HFEA 2023: Birth Rate per Embryo Transferred by Age</a:t>
            </a:r>
            <a:endParaRPr lang="en-US" sz="1100" dirty="0"/>
          </a:p>
        </p:txBody>
      </p:sp>
      <p:sp>
        <p:nvSpPr>
          <p:cNvPr id="6" name="Shape 3"/>
          <p:cNvSpPr/>
          <p:nvPr/>
        </p:nvSpPr>
        <p:spPr>
          <a:xfrm>
            <a:off x="500063" y="1593056"/>
            <a:ext cx="990749" cy="321469"/>
          </a:xfrm>
          <a:prstGeom prst="rect">
            <a:avLst/>
          </a:prstGeom>
          <a:solidFill>
            <a:srgbClr val="E8F4F4"/>
          </a:solidFill>
          <a:ln/>
        </p:spPr>
      </p:sp>
      <p:sp>
        <p:nvSpPr>
          <p:cNvPr id="7" name="Text 4"/>
          <p:cNvSpPr/>
          <p:nvPr/>
        </p:nvSpPr>
        <p:spPr>
          <a:xfrm>
            <a:off x="500063" y="1586566"/>
            <a:ext cx="990749"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Age Group</a:t>
            </a:r>
            <a:endParaRPr lang="en-US" sz="1000" dirty="0"/>
          </a:p>
        </p:txBody>
      </p:sp>
      <p:sp>
        <p:nvSpPr>
          <p:cNvPr id="8" name="Shape 5"/>
          <p:cNvSpPr/>
          <p:nvPr/>
        </p:nvSpPr>
        <p:spPr>
          <a:xfrm>
            <a:off x="1490811" y="1593056"/>
            <a:ext cx="954723" cy="321469"/>
          </a:xfrm>
          <a:prstGeom prst="rect">
            <a:avLst/>
          </a:prstGeom>
          <a:solidFill>
            <a:srgbClr val="E8F4F4"/>
          </a:solidFill>
          <a:ln/>
        </p:spPr>
      </p:sp>
      <p:sp>
        <p:nvSpPr>
          <p:cNvPr id="9" name="Text 6"/>
          <p:cNvSpPr/>
          <p:nvPr/>
        </p:nvSpPr>
        <p:spPr>
          <a:xfrm>
            <a:off x="1490811" y="1586565"/>
            <a:ext cx="954723"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Birth Rate</a:t>
            </a:r>
            <a:endParaRPr lang="en-US" sz="1000" dirty="0"/>
          </a:p>
        </p:txBody>
      </p:sp>
      <p:sp>
        <p:nvSpPr>
          <p:cNvPr id="10" name="Shape 7"/>
          <p:cNvSpPr/>
          <p:nvPr/>
        </p:nvSpPr>
        <p:spPr>
          <a:xfrm>
            <a:off x="2445534" y="1593056"/>
            <a:ext cx="1947872" cy="321469"/>
          </a:xfrm>
          <a:prstGeom prst="rect">
            <a:avLst/>
          </a:prstGeom>
          <a:solidFill>
            <a:srgbClr val="E8F4F4"/>
          </a:solidFill>
          <a:ln/>
        </p:spPr>
      </p:sp>
      <p:sp>
        <p:nvSpPr>
          <p:cNvPr id="11" name="Text 8"/>
          <p:cNvSpPr/>
          <p:nvPr/>
        </p:nvSpPr>
        <p:spPr>
          <a:xfrm>
            <a:off x="2445534" y="1586565"/>
            <a:ext cx="1947872"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Clinical Context</a:t>
            </a:r>
            <a:endParaRPr lang="en-US" sz="1000" dirty="0"/>
          </a:p>
        </p:txBody>
      </p:sp>
      <p:sp>
        <p:nvSpPr>
          <p:cNvPr id="12" name="Text 9"/>
          <p:cNvSpPr/>
          <p:nvPr/>
        </p:nvSpPr>
        <p:spPr>
          <a:xfrm>
            <a:off x="500063" y="1912717"/>
            <a:ext cx="990749"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18-34</a:t>
            </a:r>
            <a:endParaRPr lang="en-US" sz="1000" dirty="0"/>
          </a:p>
        </p:txBody>
      </p:sp>
      <p:sp>
        <p:nvSpPr>
          <p:cNvPr id="13" name="Text 10"/>
          <p:cNvSpPr/>
          <p:nvPr/>
        </p:nvSpPr>
        <p:spPr>
          <a:xfrm>
            <a:off x="1490811" y="1912717"/>
            <a:ext cx="954723"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14A098"/>
                </a:solidFill>
              </a:rPr>
              <a:t>35%</a:t>
            </a:r>
            <a:endParaRPr lang="en-US" sz="1000" dirty="0"/>
          </a:p>
        </p:txBody>
      </p:sp>
      <p:sp>
        <p:nvSpPr>
          <p:cNvPr id="14" name="Text 11"/>
          <p:cNvSpPr/>
          <p:nvPr/>
        </p:nvSpPr>
        <p:spPr>
          <a:xfrm>
            <a:off x="2445534" y="1912717"/>
            <a:ext cx="19478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Optimal fertility window</a:t>
            </a:r>
            <a:endParaRPr lang="en-US" sz="1000" dirty="0"/>
          </a:p>
        </p:txBody>
      </p:sp>
      <p:sp>
        <p:nvSpPr>
          <p:cNvPr id="15" name="Text 12"/>
          <p:cNvSpPr/>
          <p:nvPr/>
        </p:nvSpPr>
        <p:spPr>
          <a:xfrm>
            <a:off x="500063" y="2209183"/>
            <a:ext cx="990749"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35-37</a:t>
            </a:r>
            <a:endParaRPr lang="en-US" sz="1000" dirty="0"/>
          </a:p>
        </p:txBody>
      </p:sp>
      <p:sp>
        <p:nvSpPr>
          <p:cNvPr id="16" name="Text 13"/>
          <p:cNvSpPr/>
          <p:nvPr/>
        </p:nvSpPr>
        <p:spPr>
          <a:xfrm>
            <a:off x="1490811" y="2209183"/>
            <a:ext cx="954723"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28-30%</a:t>
            </a:r>
            <a:endParaRPr lang="en-US" sz="1000" dirty="0"/>
          </a:p>
        </p:txBody>
      </p:sp>
      <p:sp>
        <p:nvSpPr>
          <p:cNvPr id="17" name="Text 14"/>
          <p:cNvSpPr/>
          <p:nvPr/>
        </p:nvSpPr>
        <p:spPr>
          <a:xfrm>
            <a:off x="2445534" y="2209183"/>
            <a:ext cx="19478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Slight decline begins</a:t>
            </a:r>
            <a:endParaRPr lang="en-US" sz="1000" dirty="0"/>
          </a:p>
        </p:txBody>
      </p:sp>
      <p:sp>
        <p:nvSpPr>
          <p:cNvPr id="18" name="Text 15"/>
          <p:cNvSpPr/>
          <p:nvPr/>
        </p:nvSpPr>
        <p:spPr>
          <a:xfrm>
            <a:off x="500063" y="2505648"/>
            <a:ext cx="990749"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38-39</a:t>
            </a:r>
            <a:endParaRPr lang="en-US" sz="1000" dirty="0"/>
          </a:p>
        </p:txBody>
      </p:sp>
      <p:sp>
        <p:nvSpPr>
          <p:cNvPr id="19" name="Text 16"/>
          <p:cNvSpPr/>
          <p:nvPr/>
        </p:nvSpPr>
        <p:spPr>
          <a:xfrm>
            <a:off x="1490811" y="2505648"/>
            <a:ext cx="954723"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20-22%</a:t>
            </a:r>
            <a:endParaRPr lang="en-US" sz="1000" dirty="0"/>
          </a:p>
        </p:txBody>
      </p:sp>
      <p:sp>
        <p:nvSpPr>
          <p:cNvPr id="20" name="Text 17"/>
          <p:cNvSpPr/>
          <p:nvPr/>
        </p:nvSpPr>
        <p:spPr>
          <a:xfrm>
            <a:off x="2445534" y="2505648"/>
            <a:ext cx="19478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Moderate decline</a:t>
            </a:r>
            <a:endParaRPr lang="en-US" sz="1000" dirty="0"/>
          </a:p>
        </p:txBody>
      </p:sp>
      <p:sp>
        <p:nvSpPr>
          <p:cNvPr id="21" name="Text 18"/>
          <p:cNvSpPr/>
          <p:nvPr/>
        </p:nvSpPr>
        <p:spPr>
          <a:xfrm>
            <a:off x="500063" y="2802114"/>
            <a:ext cx="990749"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40-42</a:t>
            </a:r>
            <a:endParaRPr lang="en-US" sz="1000" dirty="0"/>
          </a:p>
        </p:txBody>
      </p:sp>
      <p:sp>
        <p:nvSpPr>
          <p:cNvPr id="22" name="Text 19"/>
          <p:cNvSpPr/>
          <p:nvPr/>
        </p:nvSpPr>
        <p:spPr>
          <a:xfrm>
            <a:off x="1490811" y="2802114"/>
            <a:ext cx="954723"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12%</a:t>
            </a:r>
            <a:endParaRPr lang="en-US" sz="1000" dirty="0"/>
          </a:p>
        </p:txBody>
      </p:sp>
      <p:sp>
        <p:nvSpPr>
          <p:cNvPr id="23" name="Text 20"/>
          <p:cNvSpPr/>
          <p:nvPr/>
        </p:nvSpPr>
        <p:spPr>
          <a:xfrm>
            <a:off x="2445534" y="2802114"/>
            <a:ext cx="19478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Significant decline</a:t>
            </a:r>
            <a:endParaRPr lang="en-US" sz="1000" dirty="0"/>
          </a:p>
        </p:txBody>
      </p:sp>
      <p:sp>
        <p:nvSpPr>
          <p:cNvPr id="24" name="Text 21"/>
          <p:cNvSpPr/>
          <p:nvPr/>
        </p:nvSpPr>
        <p:spPr>
          <a:xfrm>
            <a:off x="500063" y="3096794"/>
            <a:ext cx="990749"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43-44</a:t>
            </a:r>
            <a:endParaRPr lang="en-US" sz="1000" dirty="0"/>
          </a:p>
        </p:txBody>
      </p:sp>
      <p:sp>
        <p:nvSpPr>
          <p:cNvPr id="25" name="Text 22"/>
          <p:cNvSpPr/>
          <p:nvPr/>
        </p:nvSpPr>
        <p:spPr>
          <a:xfrm>
            <a:off x="1490811" y="3096794"/>
            <a:ext cx="954723"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FF6B6B"/>
                </a:solidFill>
              </a:rPr>
              <a:t>5%</a:t>
            </a:r>
            <a:endParaRPr lang="en-US" sz="1000" dirty="0"/>
          </a:p>
        </p:txBody>
      </p:sp>
      <p:sp>
        <p:nvSpPr>
          <p:cNvPr id="26" name="Text 23"/>
          <p:cNvSpPr/>
          <p:nvPr/>
        </p:nvSpPr>
        <p:spPr>
          <a:xfrm>
            <a:off x="2445534" y="3096794"/>
            <a:ext cx="19478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Donor egg consideration</a:t>
            </a:r>
            <a:endParaRPr lang="en-US" sz="1000" dirty="0"/>
          </a:p>
        </p:txBody>
      </p:sp>
      <p:sp>
        <p:nvSpPr>
          <p:cNvPr id="27" name="Text 24"/>
          <p:cNvSpPr/>
          <p:nvPr/>
        </p:nvSpPr>
        <p:spPr>
          <a:xfrm>
            <a:off x="500063" y="3607594"/>
            <a:ext cx="1110882"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C3E50"/>
                </a:solidFill>
              </a:rPr>
              <a:t>Analytical Challenge:</a:t>
            </a:r>
            <a:endParaRPr lang="en-US" sz="1000" dirty="0"/>
          </a:p>
        </p:txBody>
      </p:sp>
      <p:sp>
        <p:nvSpPr>
          <p:cNvPr id="28" name="Text 25"/>
          <p:cNvSpPr/>
          <p:nvPr/>
        </p:nvSpPr>
        <p:spPr>
          <a:xfrm>
            <a:off x="500063" y="3834408"/>
            <a:ext cx="3893344" cy="666849"/>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5A6C7D"/>
                </a:solidFill>
              </a:rPr>
              <a:t>The observed decline in success rates across cycles is partially explained by aging of the cohort, not cycle number alone. Ideally, age-stratified analysis would isolate the independent effect of cycle number, but anonymized data constraints limit this approach.</a:t>
            </a:r>
            <a:endParaRPr lang="en-US" sz="1050" dirty="0"/>
          </a:p>
        </p:txBody>
      </p:sp>
      <p:sp>
        <p:nvSpPr>
          <p:cNvPr id="29" name="Text 26"/>
          <p:cNvSpPr/>
          <p:nvPr/>
        </p:nvSpPr>
        <p:spPr>
          <a:xfrm>
            <a:off x="4750594" y="1255514"/>
            <a:ext cx="2422138"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2C3E50"/>
                </a:solidFill>
              </a:rPr>
              <a:t>Age Progression in Our 2017-2018 Cohort</a:t>
            </a:r>
            <a:endParaRPr lang="en-US" sz="1100" dirty="0"/>
          </a:p>
        </p:txBody>
      </p:sp>
      <p:pic>
        <p:nvPicPr>
          <p:cNvPr id="30" name="Image 1" descr="preencoded.png"/>
          <p:cNvPicPr>
            <a:picLocks noChangeAspect="1"/>
          </p:cNvPicPr>
          <p:nvPr/>
        </p:nvPicPr>
        <p:blipFill>
          <a:blip r:embed="rId4"/>
          <a:stretch>
            <a:fillRect/>
          </a:stretch>
        </p:blipFill>
        <p:spPr>
          <a:xfrm>
            <a:off x="4750594" y="1593056"/>
            <a:ext cx="3893344" cy="1714500"/>
          </a:xfrm>
          <a:prstGeom prst="rect">
            <a:avLst/>
          </a:prstGeom>
        </p:spPr>
      </p:pic>
      <p:sp>
        <p:nvSpPr>
          <p:cNvPr id="31" name="Shape 27"/>
          <p:cNvSpPr/>
          <p:nvPr/>
        </p:nvSpPr>
        <p:spPr>
          <a:xfrm>
            <a:off x="4750594" y="3486149"/>
            <a:ext cx="3893344" cy="938367"/>
          </a:xfrm>
          <a:prstGeom prst="rect">
            <a:avLst/>
          </a:prstGeom>
          <a:solidFill>
            <a:srgbClr val="E8F9F7"/>
          </a:solidFill>
          <a:ln/>
        </p:spPr>
      </p:sp>
      <p:sp>
        <p:nvSpPr>
          <p:cNvPr id="32" name="Text 28"/>
          <p:cNvSpPr/>
          <p:nvPr/>
        </p:nvSpPr>
        <p:spPr>
          <a:xfrm>
            <a:off x="4893469" y="3593306"/>
            <a:ext cx="872034" cy="133434"/>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0D7377"/>
                </a:solidFill>
              </a:rPr>
              <a:t>Key Takeaway</a:t>
            </a:r>
            <a:r>
              <a:rPr lang="en-US" sz="1050" b="1" dirty="0">
                <a:solidFill>
                  <a:srgbClr val="0D7377"/>
                </a:solidFill>
              </a:rPr>
              <a:t>:</a:t>
            </a:r>
            <a:endParaRPr lang="en-US" sz="1050" dirty="0"/>
          </a:p>
        </p:txBody>
      </p:sp>
      <p:sp>
        <p:nvSpPr>
          <p:cNvPr id="33" name="Text 29"/>
          <p:cNvSpPr/>
          <p:nvPr/>
        </p:nvSpPr>
        <p:spPr>
          <a:xfrm>
            <a:off x="4893469" y="3796903"/>
            <a:ext cx="3607594" cy="500137"/>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2C3E50"/>
                </a:solidFill>
              </a:rPr>
              <a:t>Age is the single most important predictor of IVF success, more influential </a:t>
            </a:r>
            <a:r>
              <a:rPr lang="en-US" sz="1100" dirty="0">
                <a:solidFill>
                  <a:srgbClr val="2C3E50"/>
                </a:solidFill>
              </a:rPr>
              <a:t>than</a:t>
            </a:r>
            <a:r>
              <a:rPr lang="en-US" sz="1050" dirty="0">
                <a:solidFill>
                  <a:srgbClr val="2C3E50"/>
                </a:solidFill>
              </a:rPr>
              <a:t> cycle number. This underscores the importance of early referral and fertility awareness campaigns.</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28625"/>
            <a:ext cx="6623544" cy="307777"/>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Treatment </a:t>
            </a:r>
            <a:r>
              <a:rPr lang="en-US" sz="2800" b="1" dirty="0">
                <a:solidFill>
                  <a:srgbClr val="0D7377"/>
                </a:solidFill>
              </a:rPr>
              <a:t>Composition Shifts Dramatically</a:t>
            </a:r>
            <a:endParaRPr lang="en-US" sz="2800" dirty="0"/>
          </a:p>
        </p:txBody>
      </p:sp>
      <p:sp>
        <p:nvSpPr>
          <p:cNvPr id="4" name="Text 1"/>
          <p:cNvSpPr/>
          <p:nvPr/>
        </p:nvSpPr>
        <p:spPr>
          <a:xfrm>
            <a:off x="500063" y="850106"/>
            <a:ext cx="6429645" cy="141064"/>
          </a:xfrm>
          <a:prstGeom prst="rect">
            <a:avLst/>
          </a:prstGeom>
          <a:noFill/>
          <a:ln/>
        </p:spPr>
        <p:txBody>
          <a:bodyPr wrap="none" lIns="0" tIns="0" rIns="0" bIns="0" rtlCol="0" anchor="t">
            <a:spAutoFit/>
          </a:bodyPr>
          <a:lstStyle/>
          <a:p>
            <a:pPr marL="0" indent="0" algn="l">
              <a:lnSpc>
                <a:spcPts val="1100"/>
              </a:lnSpc>
              <a:buNone/>
            </a:pPr>
            <a:r>
              <a:rPr lang="en-US" sz="1100" b="1" dirty="0">
                <a:solidFill>
                  <a:srgbClr val="14A098"/>
                </a:solidFill>
              </a:rPr>
              <a:t>Major Confounder: The 1st cycle cohort and 4+ cycle cohort are receiving fundamentally different treatments.</a:t>
            </a:r>
            <a:endParaRPr lang="en-US" sz="1100" dirty="0"/>
          </a:p>
        </p:txBody>
      </p:sp>
      <p:sp>
        <p:nvSpPr>
          <p:cNvPr id="5" name="Text 2"/>
          <p:cNvSpPr/>
          <p:nvPr/>
        </p:nvSpPr>
        <p:spPr>
          <a:xfrm>
            <a:off x="500063" y="1148358"/>
            <a:ext cx="2927404" cy="15388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2C3E50"/>
                </a:solidFill>
              </a:rPr>
              <a:t>Fresh vs Frozen Embryo Transfer Across Cycles</a:t>
            </a:r>
            <a:endParaRPr lang="en-US" sz="1200" dirty="0"/>
          </a:p>
        </p:txBody>
      </p:sp>
      <p:pic>
        <p:nvPicPr>
          <p:cNvPr id="6" name="Image 1" descr="preencoded.png"/>
          <p:cNvPicPr>
            <a:picLocks noChangeAspect="1"/>
          </p:cNvPicPr>
          <p:nvPr/>
        </p:nvPicPr>
        <p:blipFill>
          <a:blip r:embed="rId4"/>
          <a:stretch>
            <a:fillRect/>
          </a:stretch>
        </p:blipFill>
        <p:spPr>
          <a:xfrm>
            <a:off x="500063" y="1430536"/>
            <a:ext cx="4282678" cy="1428750"/>
          </a:xfrm>
          <a:prstGeom prst="rect">
            <a:avLst/>
          </a:prstGeom>
        </p:spPr>
      </p:pic>
      <p:sp>
        <p:nvSpPr>
          <p:cNvPr id="7" name="Text 3"/>
          <p:cNvSpPr/>
          <p:nvPr/>
        </p:nvSpPr>
        <p:spPr>
          <a:xfrm>
            <a:off x="500063" y="2945011"/>
            <a:ext cx="4282678" cy="259943"/>
          </a:xfrm>
          <a:prstGeom prst="rect">
            <a:avLst/>
          </a:prstGeom>
          <a:noFill/>
          <a:ln/>
        </p:spPr>
        <p:txBody>
          <a:bodyPr wrap="square" lIns="0" tIns="0" rIns="0" bIns="0" rtlCol="0" anchor="t">
            <a:spAutoFit/>
          </a:bodyPr>
          <a:lstStyle/>
          <a:p>
            <a:pPr marL="0" indent="0" algn="l">
              <a:lnSpc>
                <a:spcPts val="1000"/>
              </a:lnSpc>
              <a:buNone/>
            </a:pPr>
            <a:r>
              <a:rPr lang="en-US" sz="1100" b="1" dirty="0">
                <a:solidFill>
                  <a:srgbClr val="FF6B6B"/>
                </a:solidFill>
              </a:rPr>
              <a:t>Complete Reversal: First cycle is predominantly fresh (85%), while later cycles are predominantly frozen (51%).</a:t>
            </a:r>
            <a:endParaRPr lang="en-US" sz="1100" dirty="0"/>
          </a:p>
        </p:txBody>
      </p:sp>
      <p:sp>
        <p:nvSpPr>
          <p:cNvPr id="8" name="Shape 4"/>
          <p:cNvSpPr/>
          <p:nvPr/>
        </p:nvSpPr>
        <p:spPr>
          <a:xfrm>
            <a:off x="500063" y="3323630"/>
            <a:ext cx="4282678" cy="1395854"/>
          </a:xfrm>
          <a:prstGeom prst="rect">
            <a:avLst/>
          </a:prstGeom>
          <a:solidFill>
            <a:srgbClr val="E8F4F4"/>
          </a:solidFill>
          <a:ln/>
        </p:spPr>
      </p:sp>
      <p:sp>
        <p:nvSpPr>
          <p:cNvPr id="9" name="Text 5"/>
          <p:cNvSpPr/>
          <p:nvPr/>
        </p:nvSpPr>
        <p:spPr>
          <a:xfrm>
            <a:off x="642938" y="3380780"/>
            <a:ext cx="831959" cy="128240"/>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0D7377"/>
                </a:solidFill>
              </a:rPr>
              <a:t>Interpretation</a:t>
            </a:r>
            <a:endParaRPr lang="en-US" sz="1000" dirty="0"/>
          </a:p>
        </p:txBody>
      </p:sp>
      <p:sp>
        <p:nvSpPr>
          <p:cNvPr id="10" name="Text 6"/>
          <p:cNvSpPr/>
          <p:nvPr/>
        </p:nvSpPr>
        <p:spPr>
          <a:xfrm>
            <a:off x="642938" y="3584377"/>
            <a:ext cx="3996928" cy="833562"/>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2C3E50"/>
                </a:solidFill>
              </a:rPr>
              <a:t>Later cycles increasingly involve treatment escalation strategies (frozen embryo transfer, donor eggs) in response to previous cycle outcomes. This means cycles are NOT independent observations—clinicians adjust protocols based on patient response, creating dependencies in the data.</a:t>
            </a:r>
            <a:endParaRPr lang="en-US" sz="1100" dirty="0"/>
          </a:p>
        </p:txBody>
      </p:sp>
      <p:sp>
        <p:nvSpPr>
          <p:cNvPr id="11" name="Shape 7"/>
          <p:cNvSpPr/>
          <p:nvPr/>
        </p:nvSpPr>
        <p:spPr>
          <a:xfrm>
            <a:off x="5139928" y="1148358"/>
            <a:ext cx="731341" cy="321469"/>
          </a:xfrm>
          <a:prstGeom prst="rect">
            <a:avLst/>
          </a:prstGeom>
          <a:solidFill>
            <a:srgbClr val="E8F4F4"/>
          </a:solidFill>
          <a:ln/>
        </p:spPr>
      </p:sp>
      <p:sp>
        <p:nvSpPr>
          <p:cNvPr id="12" name="Text 8"/>
          <p:cNvSpPr/>
          <p:nvPr/>
        </p:nvSpPr>
        <p:spPr>
          <a:xfrm>
            <a:off x="5139928" y="1141867"/>
            <a:ext cx="731341"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Cycle</a:t>
            </a:r>
            <a:endParaRPr lang="en-US" sz="1000" dirty="0"/>
          </a:p>
        </p:txBody>
      </p:sp>
      <p:sp>
        <p:nvSpPr>
          <p:cNvPr id="13" name="Shape 9"/>
          <p:cNvSpPr/>
          <p:nvPr/>
        </p:nvSpPr>
        <p:spPr>
          <a:xfrm>
            <a:off x="5871270" y="1148358"/>
            <a:ext cx="1333900" cy="321469"/>
          </a:xfrm>
          <a:prstGeom prst="rect">
            <a:avLst/>
          </a:prstGeom>
          <a:solidFill>
            <a:srgbClr val="E8F4F4"/>
          </a:solidFill>
          <a:ln/>
        </p:spPr>
      </p:sp>
      <p:sp>
        <p:nvSpPr>
          <p:cNvPr id="14" name="Text 10"/>
          <p:cNvSpPr/>
          <p:nvPr/>
        </p:nvSpPr>
        <p:spPr>
          <a:xfrm>
            <a:off x="5871270" y="1141867"/>
            <a:ext cx="1333900"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Fresh Cycles</a:t>
            </a:r>
            <a:endParaRPr lang="en-US" sz="1000" dirty="0"/>
          </a:p>
        </p:txBody>
      </p:sp>
      <p:sp>
        <p:nvSpPr>
          <p:cNvPr id="15" name="Shape 11"/>
          <p:cNvSpPr/>
          <p:nvPr/>
        </p:nvSpPr>
        <p:spPr>
          <a:xfrm>
            <a:off x="7205170" y="1148358"/>
            <a:ext cx="1438768" cy="321469"/>
          </a:xfrm>
          <a:prstGeom prst="rect">
            <a:avLst/>
          </a:prstGeom>
          <a:solidFill>
            <a:srgbClr val="E8F4F4"/>
          </a:solidFill>
          <a:ln/>
        </p:spPr>
      </p:sp>
      <p:sp>
        <p:nvSpPr>
          <p:cNvPr id="16" name="Text 12"/>
          <p:cNvSpPr/>
          <p:nvPr/>
        </p:nvSpPr>
        <p:spPr>
          <a:xfrm>
            <a:off x="7205170" y="1141867"/>
            <a:ext cx="1438768"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Frozen Cycles</a:t>
            </a:r>
            <a:endParaRPr lang="en-US" sz="1000" dirty="0"/>
          </a:p>
        </p:txBody>
      </p:sp>
      <p:sp>
        <p:nvSpPr>
          <p:cNvPr id="17" name="Text 13"/>
          <p:cNvSpPr/>
          <p:nvPr/>
        </p:nvSpPr>
        <p:spPr>
          <a:xfrm>
            <a:off x="5139928" y="1468019"/>
            <a:ext cx="73134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1st</a:t>
            </a:r>
            <a:endParaRPr lang="en-US" sz="1000" dirty="0"/>
          </a:p>
        </p:txBody>
      </p:sp>
      <p:sp>
        <p:nvSpPr>
          <p:cNvPr id="18" name="Text 14"/>
          <p:cNvSpPr/>
          <p:nvPr/>
        </p:nvSpPr>
        <p:spPr>
          <a:xfrm>
            <a:off x="5871270" y="1468019"/>
            <a:ext cx="133390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14A098"/>
                </a:solidFill>
              </a:rPr>
              <a:t>85%</a:t>
            </a:r>
            <a:endParaRPr lang="en-US" sz="1000" dirty="0"/>
          </a:p>
        </p:txBody>
      </p:sp>
      <p:sp>
        <p:nvSpPr>
          <p:cNvPr id="19" name="Text 15"/>
          <p:cNvSpPr/>
          <p:nvPr/>
        </p:nvSpPr>
        <p:spPr>
          <a:xfrm>
            <a:off x="7205170" y="1468019"/>
            <a:ext cx="1438768"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a:t>
            </a:r>
            <a:endParaRPr lang="en-US" sz="1000" dirty="0"/>
          </a:p>
        </p:txBody>
      </p:sp>
      <p:sp>
        <p:nvSpPr>
          <p:cNvPr id="20" name="Text 16"/>
          <p:cNvSpPr/>
          <p:nvPr/>
        </p:nvSpPr>
        <p:spPr>
          <a:xfrm>
            <a:off x="5139928" y="1764484"/>
            <a:ext cx="73134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2nd</a:t>
            </a:r>
            <a:endParaRPr lang="en-US" sz="1000" dirty="0"/>
          </a:p>
        </p:txBody>
      </p:sp>
      <p:sp>
        <p:nvSpPr>
          <p:cNvPr id="21" name="Text 17"/>
          <p:cNvSpPr/>
          <p:nvPr/>
        </p:nvSpPr>
        <p:spPr>
          <a:xfrm>
            <a:off x="5871270" y="1764484"/>
            <a:ext cx="133390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60%</a:t>
            </a:r>
            <a:endParaRPr lang="en-US" sz="1000" dirty="0"/>
          </a:p>
        </p:txBody>
      </p:sp>
      <p:sp>
        <p:nvSpPr>
          <p:cNvPr id="22" name="Text 18"/>
          <p:cNvSpPr/>
          <p:nvPr/>
        </p:nvSpPr>
        <p:spPr>
          <a:xfrm>
            <a:off x="7205170" y="1764484"/>
            <a:ext cx="1438768"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49%</a:t>
            </a:r>
            <a:endParaRPr lang="en-US" sz="1000" dirty="0"/>
          </a:p>
        </p:txBody>
      </p:sp>
      <p:sp>
        <p:nvSpPr>
          <p:cNvPr id="23" name="Text 19"/>
          <p:cNvSpPr/>
          <p:nvPr/>
        </p:nvSpPr>
        <p:spPr>
          <a:xfrm>
            <a:off x="5139928" y="2060950"/>
            <a:ext cx="73134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3rd</a:t>
            </a:r>
            <a:endParaRPr lang="en-US" sz="1000" dirty="0"/>
          </a:p>
        </p:txBody>
      </p:sp>
      <p:sp>
        <p:nvSpPr>
          <p:cNvPr id="24" name="Text 20"/>
          <p:cNvSpPr/>
          <p:nvPr/>
        </p:nvSpPr>
        <p:spPr>
          <a:xfrm>
            <a:off x="5871270" y="2060950"/>
            <a:ext cx="133390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52%</a:t>
            </a:r>
            <a:endParaRPr lang="en-US" sz="1000" dirty="0"/>
          </a:p>
        </p:txBody>
      </p:sp>
      <p:sp>
        <p:nvSpPr>
          <p:cNvPr id="25" name="Text 21"/>
          <p:cNvSpPr/>
          <p:nvPr/>
        </p:nvSpPr>
        <p:spPr>
          <a:xfrm>
            <a:off x="7205170" y="2060950"/>
            <a:ext cx="1438768"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48%</a:t>
            </a:r>
            <a:endParaRPr lang="en-US" sz="1000" dirty="0"/>
          </a:p>
        </p:txBody>
      </p:sp>
      <p:sp>
        <p:nvSpPr>
          <p:cNvPr id="26" name="Text 22"/>
          <p:cNvSpPr/>
          <p:nvPr/>
        </p:nvSpPr>
        <p:spPr>
          <a:xfrm>
            <a:off x="5139928" y="2355629"/>
            <a:ext cx="73134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a:t>
            </a:r>
            <a:endParaRPr lang="en-US" sz="1000" dirty="0"/>
          </a:p>
        </p:txBody>
      </p:sp>
      <p:sp>
        <p:nvSpPr>
          <p:cNvPr id="27" name="Text 23"/>
          <p:cNvSpPr/>
          <p:nvPr/>
        </p:nvSpPr>
        <p:spPr>
          <a:xfrm>
            <a:off x="5871270" y="2355629"/>
            <a:ext cx="133390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48%</a:t>
            </a:r>
            <a:endParaRPr lang="en-US" sz="1000" dirty="0"/>
          </a:p>
        </p:txBody>
      </p:sp>
      <p:sp>
        <p:nvSpPr>
          <p:cNvPr id="28" name="Text 24"/>
          <p:cNvSpPr/>
          <p:nvPr/>
        </p:nvSpPr>
        <p:spPr>
          <a:xfrm>
            <a:off x="7205170" y="2355629"/>
            <a:ext cx="1438768"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14A098"/>
                </a:solidFill>
              </a:rPr>
              <a:t>51%</a:t>
            </a:r>
            <a:endParaRPr lang="en-US" sz="1000" dirty="0"/>
          </a:p>
        </p:txBody>
      </p:sp>
      <p:sp>
        <p:nvSpPr>
          <p:cNvPr id="29" name="Shape 25"/>
          <p:cNvSpPr/>
          <p:nvPr/>
        </p:nvSpPr>
        <p:spPr>
          <a:xfrm>
            <a:off x="5139928" y="2737841"/>
            <a:ext cx="3504009" cy="1079225"/>
          </a:xfrm>
          <a:prstGeom prst="rect">
            <a:avLst/>
          </a:prstGeom>
          <a:solidFill>
            <a:srgbClr val="E8F4F4"/>
          </a:solidFill>
          <a:ln/>
        </p:spPr>
      </p:sp>
      <p:sp>
        <p:nvSpPr>
          <p:cNvPr id="30" name="Text 26"/>
          <p:cNvSpPr/>
          <p:nvPr/>
        </p:nvSpPr>
        <p:spPr>
          <a:xfrm>
            <a:off x="5282803" y="2794992"/>
            <a:ext cx="1040349" cy="128240"/>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0D7377"/>
                </a:solidFill>
              </a:rPr>
              <a:t>Why This Matters</a:t>
            </a:r>
            <a:endParaRPr lang="en-US" sz="1100" dirty="0"/>
          </a:p>
        </p:txBody>
      </p:sp>
      <p:sp>
        <p:nvSpPr>
          <p:cNvPr id="31" name="Text 27"/>
          <p:cNvSpPr/>
          <p:nvPr/>
        </p:nvSpPr>
        <p:spPr>
          <a:xfrm>
            <a:off x="5282803" y="2998589"/>
            <a:ext cx="64120" cy="166712"/>
          </a:xfrm>
          <a:prstGeom prst="rect">
            <a:avLst/>
          </a:prstGeom>
          <a:noFill/>
          <a:ln/>
        </p:spPr>
        <p:txBody>
          <a:bodyPr wrap="none" lIns="0" tIns="0" rIns="0" bIns="0" rtlCol="0" anchor="t">
            <a:spAutoFit/>
          </a:bodyPr>
          <a:lstStyle/>
          <a:p>
            <a:pPr marL="0" indent="0" algn="l">
              <a:lnSpc>
                <a:spcPts val="1300"/>
              </a:lnSpc>
              <a:buNone/>
            </a:pPr>
            <a:r>
              <a:rPr lang="en-US" sz="1000" b="1" dirty="0">
                <a:solidFill>
                  <a:srgbClr val="14A098"/>
                </a:solidFill>
              </a:rPr>
              <a:t>•</a:t>
            </a:r>
            <a:endParaRPr lang="en-US" sz="1000" dirty="0"/>
          </a:p>
        </p:txBody>
      </p:sp>
      <p:sp>
        <p:nvSpPr>
          <p:cNvPr id="32" name="Text 28"/>
          <p:cNvSpPr/>
          <p:nvPr/>
        </p:nvSpPr>
        <p:spPr>
          <a:xfrm>
            <a:off x="5425678" y="3009305"/>
            <a:ext cx="3574697" cy="160557"/>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Fresh and frozen embryo transfers have different success profiles</a:t>
            </a:r>
            <a:endParaRPr lang="en-US" sz="1050" dirty="0"/>
          </a:p>
        </p:txBody>
      </p:sp>
      <p:sp>
        <p:nvSpPr>
          <p:cNvPr id="33" name="Text 29"/>
          <p:cNvSpPr/>
          <p:nvPr/>
        </p:nvSpPr>
        <p:spPr>
          <a:xfrm>
            <a:off x="5282803" y="3201460"/>
            <a:ext cx="64120" cy="166712"/>
          </a:xfrm>
          <a:prstGeom prst="rect">
            <a:avLst/>
          </a:prstGeom>
          <a:noFill/>
          <a:ln/>
        </p:spPr>
        <p:txBody>
          <a:bodyPr wrap="none" lIns="0" tIns="0" rIns="0" bIns="0" rtlCol="0" anchor="t">
            <a:spAutoFit/>
          </a:bodyPr>
          <a:lstStyle/>
          <a:p>
            <a:pPr marL="0" indent="0" algn="l">
              <a:lnSpc>
                <a:spcPts val="1300"/>
              </a:lnSpc>
              <a:buNone/>
            </a:pPr>
            <a:r>
              <a:rPr lang="en-US" sz="1000" b="1" dirty="0">
                <a:solidFill>
                  <a:srgbClr val="14A098"/>
                </a:solidFill>
              </a:rPr>
              <a:t>•</a:t>
            </a:r>
            <a:endParaRPr lang="en-US" sz="1000" dirty="0"/>
          </a:p>
        </p:txBody>
      </p:sp>
      <p:sp>
        <p:nvSpPr>
          <p:cNvPr id="34" name="Text 30"/>
          <p:cNvSpPr/>
          <p:nvPr/>
        </p:nvSpPr>
        <p:spPr>
          <a:xfrm>
            <a:off x="5425678" y="3212176"/>
            <a:ext cx="2896372" cy="500137"/>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2C3E50"/>
                </a:solidFill>
              </a:rPr>
              <a:t>Comparing success rates across cycles without accounting for this shift compares different treatment modalities</a:t>
            </a:r>
            <a:endParaRPr lang="en-US" sz="1100" dirty="0"/>
          </a:p>
        </p:txBody>
      </p:sp>
      <p:sp>
        <p:nvSpPr>
          <p:cNvPr id="35" name="Shape 31"/>
          <p:cNvSpPr/>
          <p:nvPr/>
        </p:nvSpPr>
        <p:spPr>
          <a:xfrm>
            <a:off x="5139928" y="3867971"/>
            <a:ext cx="3504009" cy="723640"/>
          </a:xfrm>
          <a:prstGeom prst="rect">
            <a:avLst/>
          </a:prstGeom>
          <a:solidFill>
            <a:srgbClr val="E8F4F4"/>
          </a:solidFill>
          <a:ln/>
        </p:spPr>
      </p:sp>
      <p:sp>
        <p:nvSpPr>
          <p:cNvPr id="36" name="Text 32"/>
          <p:cNvSpPr/>
          <p:nvPr/>
        </p:nvSpPr>
        <p:spPr>
          <a:xfrm>
            <a:off x="5282803" y="3899891"/>
            <a:ext cx="1667123" cy="128240"/>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D7377"/>
                </a:solidFill>
              </a:rPr>
              <a:t>Donor Egg Usage Also Escalates</a:t>
            </a:r>
            <a:endParaRPr lang="en-US" sz="1000" dirty="0"/>
          </a:p>
        </p:txBody>
      </p:sp>
      <p:sp>
        <p:nvSpPr>
          <p:cNvPr id="37" name="Text 33"/>
          <p:cNvSpPr/>
          <p:nvPr/>
        </p:nvSpPr>
        <p:spPr>
          <a:xfrm>
            <a:off x="5282803" y="4033976"/>
            <a:ext cx="64120" cy="166712"/>
          </a:xfrm>
          <a:prstGeom prst="rect">
            <a:avLst/>
          </a:prstGeom>
          <a:noFill/>
          <a:ln/>
        </p:spPr>
        <p:txBody>
          <a:bodyPr wrap="none" lIns="0" tIns="0" rIns="0" bIns="0" rtlCol="0" anchor="t">
            <a:spAutoFit/>
          </a:bodyPr>
          <a:lstStyle/>
          <a:p>
            <a:pPr marL="0" indent="0" algn="l">
              <a:lnSpc>
                <a:spcPts val="1300"/>
              </a:lnSpc>
              <a:buNone/>
            </a:pPr>
            <a:r>
              <a:rPr lang="en-US" sz="1000" b="1" dirty="0">
                <a:solidFill>
                  <a:srgbClr val="14A098"/>
                </a:solidFill>
              </a:rPr>
              <a:t>•</a:t>
            </a:r>
            <a:endParaRPr lang="en-US" sz="1000" dirty="0"/>
          </a:p>
        </p:txBody>
      </p:sp>
      <p:sp>
        <p:nvSpPr>
          <p:cNvPr id="38" name="Text 34"/>
          <p:cNvSpPr/>
          <p:nvPr/>
        </p:nvSpPr>
        <p:spPr>
          <a:xfrm>
            <a:off x="5425678" y="4051137"/>
            <a:ext cx="1506823" cy="166712"/>
          </a:xfrm>
          <a:prstGeom prst="rect">
            <a:avLst/>
          </a:prstGeom>
          <a:noFill/>
          <a:ln/>
        </p:spPr>
        <p:txBody>
          <a:bodyPr wrap="none" lIns="0" tIns="0" rIns="0" bIns="0" rtlCol="0" anchor="t">
            <a:spAutoFit/>
          </a:bodyPr>
          <a:lstStyle/>
          <a:p>
            <a:pPr marL="0" indent="0" algn="l">
              <a:lnSpc>
                <a:spcPts val="1300"/>
              </a:lnSpc>
              <a:buNone/>
            </a:pPr>
            <a:r>
              <a:rPr lang="en-US" sz="1100" dirty="0">
                <a:solidFill>
                  <a:srgbClr val="2C3E50"/>
                </a:solidFill>
              </a:rPr>
              <a:t>1st cycle: 3.6% donor eggs</a:t>
            </a:r>
            <a:endParaRPr lang="en-US" sz="1100" dirty="0"/>
          </a:p>
        </p:txBody>
      </p:sp>
      <p:sp>
        <p:nvSpPr>
          <p:cNvPr id="39" name="Text 35"/>
          <p:cNvSpPr/>
          <p:nvPr/>
        </p:nvSpPr>
        <p:spPr>
          <a:xfrm>
            <a:off x="5282803" y="4283512"/>
            <a:ext cx="64120" cy="166712"/>
          </a:xfrm>
          <a:prstGeom prst="rect">
            <a:avLst/>
          </a:prstGeom>
          <a:noFill/>
          <a:ln/>
        </p:spPr>
        <p:txBody>
          <a:bodyPr wrap="none" lIns="0" tIns="0" rIns="0" bIns="0" rtlCol="0" anchor="t">
            <a:spAutoFit/>
          </a:bodyPr>
          <a:lstStyle/>
          <a:p>
            <a:pPr marL="0" indent="0" algn="l">
              <a:lnSpc>
                <a:spcPts val="1300"/>
              </a:lnSpc>
              <a:buNone/>
            </a:pPr>
            <a:r>
              <a:rPr lang="en-US" sz="1000" b="1" dirty="0">
                <a:solidFill>
                  <a:srgbClr val="14A098"/>
                </a:solidFill>
              </a:rPr>
              <a:t>•</a:t>
            </a:r>
            <a:endParaRPr lang="en-US" sz="1000" dirty="0"/>
          </a:p>
        </p:txBody>
      </p:sp>
      <p:sp>
        <p:nvSpPr>
          <p:cNvPr id="40" name="Text 36"/>
          <p:cNvSpPr/>
          <p:nvPr/>
        </p:nvSpPr>
        <p:spPr>
          <a:xfrm>
            <a:off x="5425678" y="4294766"/>
            <a:ext cx="1627048" cy="166712"/>
          </a:xfrm>
          <a:prstGeom prst="rect">
            <a:avLst/>
          </a:prstGeom>
          <a:noFill/>
          <a:ln/>
        </p:spPr>
        <p:txBody>
          <a:bodyPr wrap="none" lIns="0" tIns="0" rIns="0" bIns="0" rtlCol="0" anchor="t">
            <a:spAutoFit/>
          </a:bodyPr>
          <a:lstStyle/>
          <a:p>
            <a:pPr marL="0" indent="0" algn="l">
              <a:lnSpc>
                <a:spcPts val="1300"/>
              </a:lnSpc>
              <a:buNone/>
            </a:pPr>
            <a:r>
              <a:rPr lang="en-US" sz="1100" b="1" dirty="0">
                <a:solidFill>
                  <a:srgbClr val="2C3E50"/>
                </a:solidFill>
              </a:rPr>
              <a:t>4+ cycles: 10.1% donor eggs</a:t>
            </a:r>
            <a:endParaRPr lang="en-US" sz="1100" dirty="0"/>
          </a:p>
        </p:txBody>
      </p:sp>
      <p:sp>
        <p:nvSpPr>
          <p:cNvPr id="41" name="Text 37"/>
          <p:cNvSpPr/>
          <p:nvPr/>
        </p:nvSpPr>
        <p:spPr>
          <a:xfrm>
            <a:off x="7095932" y="4313091"/>
            <a:ext cx="913712" cy="166712"/>
          </a:xfrm>
          <a:prstGeom prst="rect">
            <a:avLst/>
          </a:prstGeom>
          <a:noFill/>
          <a:ln/>
        </p:spPr>
        <p:txBody>
          <a:bodyPr wrap="none" lIns="0" tIns="0" rIns="0" bIns="0" rtlCol="0" anchor="t">
            <a:spAutoFit/>
          </a:bodyPr>
          <a:lstStyle/>
          <a:p>
            <a:pPr marL="0" indent="0" algn="l">
              <a:lnSpc>
                <a:spcPts val="1300"/>
              </a:lnSpc>
              <a:buNone/>
            </a:pPr>
            <a:r>
              <a:rPr lang="en-US" sz="1100" dirty="0">
                <a:solidFill>
                  <a:srgbClr val="2C3E50"/>
                </a:solidFill>
              </a:rPr>
              <a:t>(181% increase)</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28625"/>
            <a:ext cx="7731027" cy="325602"/>
          </a:xfrm>
          <a:prstGeom prst="rect">
            <a:avLst/>
          </a:prstGeom>
          <a:noFill/>
          <a:ln/>
        </p:spPr>
        <p:txBody>
          <a:bodyPr wrap="none" lIns="0" tIns="0" rIns="0" bIns="0" rtlCol="0" anchor="t">
            <a:spAutoFit/>
          </a:bodyPr>
          <a:lstStyle/>
          <a:p>
            <a:pPr marL="0" indent="0" algn="l">
              <a:lnSpc>
                <a:spcPts val="2400"/>
              </a:lnSpc>
              <a:buNone/>
            </a:pPr>
            <a:r>
              <a:rPr lang="en-US" sz="2800" b="1" dirty="0">
                <a:solidFill>
                  <a:srgbClr val="0D7377"/>
                </a:solidFill>
              </a:rPr>
              <a:t>Patient Safety Concern - Multiple Birth Risk Doubles</a:t>
            </a:r>
            <a:endParaRPr lang="en-US" sz="2800" dirty="0"/>
          </a:p>
        </p:txBody>
      </p:sp>
      <p:sp>
        <p:nvSpPr>
          <p:cNvPr id="4" name="Text 1"/>
          <p:cNvSpPr/>
          <p:nvPr/>
        </p:nvSpPr>
        <p:spPr>
          <a:xfrm>
            <a:off x="500063" y="850106"/>
            <a:ext cx="7320915" cy="133434"/>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FF6B6B"/>
                </a:solidFill>
              </a:rPr>
              <a:t>Critical Safety Finding: As treatment progresses, multiple birth risk increases substantially while protective measures decline.</a:t>
            </a:r>
            <a:endParaRPr lang="en-US" sz="1100" dirty="0"/>
          </a:p>
        </p:txBody>
      </p:sp>
      <p:sp>
        <p:nvSpPr>
          <p:cNvPr id="5" name="Text 2"/>
          <p:cNvSpPr/>
          <p:nvPr/>
        </p:nvSpPr>
        <p:spPr>
          <a:xfrm>
            <a:off x="500063" y="1210866"/>
            <a:ext cx="3417539" cy="179536"/>
          </a:xfrm>
          <a:prstGeom prst="rect">
            <a:avLst/>
          </a:prstGeom>
          <a:noFill/>
          <a:ln/>
        </p:spPr>
        <p:txBody>
          <a:bodyPr wrap="none" lIns="0" tIns="0" rIns="0" bIns="0" rtlCol="0" anchor="t">
            <a:spAutoFit/>
          </a:bodyPr>
          <a:lstStyle/>
          <a:p>
            <a:pPr marL="0" indent="0" algn="l">
              <a:lnSpc>
                <a:spcPts val="1400"/>
              </a:lnSpc>
              <a:buNone/>
            </a:pPr>
            <a:r>
              <a:rPr lang="en-US" sz="1200" b="1" dirty="0">
                <a:solidFill>
                  <a:srgbClr val="2C3E50"/>
                </a:solidFill>
              </a:rPr>
              <a:t>eSET (Elective Single Embryo Transfer) Usage Declines</a:t>
            </a:r>
            <a:endParaRPr lang="en-US" sz="1200" dirty="0"/>
          </a:p>
        </p:txBody>
      </p:sp>
      <p:sp>
        <p:nvSpPr>
          <p:cNvPr id="6" name="Shape 3"/>
          <p:cNvSpPr/>
          <p:nvPr/>
        </p:nvSpPr>
        <p:spPr>
          <a:xfrm>
            <a:off x="500063" y="1548408"/>
            <a:ext cx="743815" cy="321469"/>
          </a:xfrm>
          <a:prstGeom prst="rect">
            <a:avLst/>
          </a:prstGeom>
          <a:solidFill>
            <a:srgbClr val="E8F4F4"/>
          </a:solidFill>
          <a:ln/>
        </p:spPr>
      </p:sp>
      <p:sp>
        <p:nvSpPr>
          <p:cNvPr id="7" name="Text 4"/>
          <p:cNvSpPr/>
          <p:nvPr/>
        </p:nvSpPr>
        <p:spPr>
          <a:xfrm>
            <a:off x="500063" y="1541917"/>
            <a:ext cx="743815"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50" b="1" dirty="0">
                <a:solidFill>
                  <a:srgbClr val="0D7377"/>
                </a:solidFill>
              </a:rPr>
              <a:t>Cycle</a:t>
            </a:r>
            <a:endParaRPr lang="en-US" sz="1050" dirty="0"/>
          </a:p>
        </p:txBody>
      </p:sp>
      <p:sp>
        <p:nvSpPr>
          <p:cNvPr id="8" name="Shape 5"/>
          <p:cNvSpPr/>
          <p:nvPr/>
        </p:nvSpPr>
        <p:spPr>
          <a:xfrm>
            <a:off x="1243878" y="1548408"/>
            <a:ext cx="1281382" cy="321469"/>
          </a:xfrm>
          <a:prstGeom prst="rect">
            <a:avLst/>
          </a:prstGeom>
          <a:solidFill>
            <a:srgbClr val="E8F4F4"/>
          </a:solidFill>
          <a:ln/>
        </p:spPr>
      </p:sp>
      <p:sp>
        <p:nvSpPr>
          <p:cNvPr id="9" name="Text 6"/>
          <p:cNvSpPr/>
          <p:nvPr/>
        </p:nvSpPr>
        <p:spPr>
          <a:xfrm>
            <a:off x="1243878" y="1541917"/>
            <a:ext cx="1281382"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50" b="1" dirty="0">
                <a:solidFill>
                  <a:srgbClr val="0D7377"/>
                </a:solidFill>
              </a:rPr>
              <a:t>eSET Usage</a:t>
            </a:r>
            <a:endParaRPr lang="en-US" sz="1050" dirty="0"/>
          </a:p>
        </p:txBody>
      </p:sp>
      <p:sp>
        <p:nvSpPr>
          <p:cNvPr id="10" name="Shape 7"/>
          <p:cNvSpPr/>
          <p:nvPr/>
        </p:nvSpPr>
        <p:spPr>
          <a:xfrm>
            <a:off x="2525260" y="1548408"/>
            <a:ext cx="1939584" cy="321469"/>
          </a:xfrm>
          <a:prstGeom prst="rect">
            <a:avLst/>
          </a:prstGeom>
          <a:solidFill>
            <a:srgbClr val="E8F4F4"/>
          </a:solidFill>
          <a:ln/>
        </p:spPr>
      </p:sp>
      <p:sp>
        <p:nvSpPr>
          <p:cNvPr id="11" name="Text 8"/>
          <p:cNvSpPr/>
          <p:nvPr/>
        </p:nvSpPr>
        <p:spPr>
          <a:xfrm>
            <a:off x="2525260" y="1541917"/>
            <a:ext cx="1939584"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50" b="1" dirty="0">
                <a:solidFill>
                  <a:srgbClr val="0D7377"/>
                </a:solidFill>
              </a:rPr>
              <a:t>Multiple Birth Rate</a:t>
            </a:r>
            <a:endParaRPr lang="en-US" sz="1050" dirty="0"/>
          </a:p>
        </p:txBody>
      </p:sp>
      <p:sp>
        <p:nvSpPr>
          <p:cNvPr id="12" name="Text 9"/>
          <p:cNvSpPr/>
          <p:nvPr/>
        </p:nvSpPr>
        <p:spPr>
          <a:xfrm>
            <a:off x="500063" y="1868069"/>
            <a:ext cx="743815"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1st</a:t>
            </a:r>
            <a:endParaRPr lang="en-US" sz="1050" dirty="0"/>
          </a:p>
        </p:txBody>
      </p:sp>
      <p:sp>
        <p:nvSpPr>
          <p:cNvPr id="13" name="Text 10"/>
          <p:cNvSpPr/>
          <p:nvPr/>
        </p:nvSpPr>
        <p:spPr>
          <a:xfrm>
            <a:off x="1243878" y="1868069"/>
            <a:ext cx="1281382"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35.8%</a:t>
            </a:r>
            <a:endParaRPr lang="en-US" sz="1050" dirty="0"/>
          </a:p>
        </p:txBody>
      </p:sp>
      <p:sp>
        <p:nvSpPr>
          <p:cNvPr id="14" name="Text 11"/>
          <p:cNvSpPr/>
          <p:nvPr/>
        </p:nvSpPr>
        <p:spPr>
          <a:xfrm>
            <a:off x="2525260" y="1868069"/>
            <a:ext cx="1939584"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6.7%</a:t>
            </a:r>
            <a:endParaRPr lang="en-US" sz="1050" dirty="0"/>
          </a:p>
        </p:txBody>
      </p:sp>
      <p:sp>
        <p:nvSpPr>
          <p:cNvPr id="15" name="Text 12"/>
          <p:cNvSpPr/>
          <p:nvPr/>
        </p:nvSpPr>
        <p:spPr>
          <a:xfrm>
            <a:off x="500063" y="2164534"/>
            <a:ext cx="743815"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2nd</a:t>
            </a:r>
            <a:endParaRPr lang="en-US" sz="1050" dirty="0"/>
          </a:p>
        </p:txBody>
      </p:sp>
      <p:sp>
        <p:nvSpPr>
          <p:cNvPr id="16" name="Text 13"/>
          <p:cNvSpPr/>
          <p:nvPr/>
        </p:nvSpPr>
        <p:spPr>
          <a:xfrm>
            <a:off x="1243878" y="2164534"/>
            <a:ext cx="1281382"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36.2%</a:t>
            </a:r>
            <a:endParaRPr lang="en-US" sz="1050" dirty="0"/>
          </a:p>
        </p:txBody>
      </p:sp>
      <p:sp>
        <p:nvSpPr>
          <p:cNvPr id="17" name="Text 14"/>
          <p:cNvSpPr/>
          <p:nvPr/>
        </p:nvSpPr>
        <p:spPr>
          <a:xfrm>
            <a:off x="2525260" y="2164534"/>
            <a:ext cx="1939584"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8.4%</a:t>
            </a:r>
            <a:endParaRPr lang="en-US" sz="1050" dirty="0"/>
          </a:p>
        </p:txBody>
      </p:sp>
      <p:sp>
        <p:nvSpPr>
          <p:cNvPr id="18" name="Text 15"/>
          <p:cNvSpPr/>
          <p:nvPr/>
        </p:nvSpPr>
        <p:spPr>
          <a:xfrm>
            <a:off x="500063" y="2461000"/>
            <a:ext cx="743815"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3rd</a:t>
            </a:r>
            <a:endParaRPr lang="en-US" sz="1050" dirty="0"/>
          </a:p>
        </p:txBody>
      </p:sp>
      <p:sp>
        <p:nvSpPr>
          <p:cNvPr id="19" name="Text 16"/>
          <p:cNvSpPr/>
          <p:nvPr/>
        </p:nvSpPr>
        <p:spPr>
          <a:xfrm>
            <a:off x="1243878" y="2461000"/>
            <a:ext cx="1281382"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30.8%</a:t>
            </a:r>
            <a:endParaRPr lang="en-US" sz="1050" dirty="0"/>
          </a:p>
        </p:txBody>
      </p:sp>
      <p:sp>
        <p:nvSpPr>
          <p:cNvPr id="20" name="Text 17"/>
          <p:cNvSpPr/>
          <p:nvPr/>
        </p:nvSpPr>
        <p:spPr>
          <a:xfrm>
            <a:off x="2525260" y="2461000"/>
            <a:ext cx="1939584"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dirty="0">
                <a:solidFill>
                  <a:srgbClr val="2C3E50"/>
                </a:solidFill>
              </a:rPr>
              <a:t>11.2%</a:t>
            </a:r>
            <a:endParaRPr lang="en-US" sz="1050" dirty="0"/>
          </a:p>
        </p:txBody>
      </p:sp>
      <p:sp>
        <p:nvSpPr>
          <p:cNvPr id="21" name="Shape 18"/>
          <p:cNvSpPr/>
          <p:nvPr/>
        </p:nvSpPr>
        <p:spPr>
          <a:xfrm>
            <a:off x="500063" y="2759273"/>
            <a:ext cx="3964781" cy="292894"/>
          </a:xfrm>
          <a:prstGeom prst="rect">
            <a:avLst/>
          </a:prstGeom>
          <a:solidFill>
            <a:srgbClr val="FFF0F0"/>
          </a:solidFill>
          <a:ln/>
        </p:spPr>
      </p:sp>
      <p:sp>
        <p:nvSpPr>
          <p:cNvPr id="22" name="Text 19"/>
          <p:cNvSpPr/>
          <p:nvPr/>
        </p:nvSpPr>
        <p:spPr>
          <a:xfrm>
            <a:off x="500063" y="2755679"/>
            <a:ext cx="743815"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b="1" dirty="0">
                <a:solidFill>
                  <a:srgbClr val="2C3E50"/>
                </a:solidFill>
              </a:rPr>
              <a:t>4+</a:t>
            </a:r>
            <a:endParaRPr lang="en-US" sz="1050" dirty="0"/>
          </a:p>
        </p:txBody>
      </p:sp>
      <p:sp>
        <p:nvSpPr>
          <p:cNvPr id="23" name="Text 20"/>
          <p:cNvSpPr/>
          <p:nvPr/>
        </p:nvSpPr>
        <p:spPr>
          <a:xfrm>
            <a:off x="1243878" y="2755679"/>
            <a:ext cx="1281382"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b="1" dirty="0">
                <a:solidFill>
                  <a:srgbClr val="2C3E50"/>
                </a:solidFill>
              </a:rPr>
              <a:t>26.1%</a:t>
            </a:r>
            <a:endParaRPr lang="en-US" sz="1050" dirty="0"/>
          </a:p>
        </p:txBody>
      </p:sp>
      <p:sp>
        <p:nvSpPr>
          <p:cNvPr id="24" name="Text 21"/>
          <p:cNvSpPr/>
          <p:nvPr/>
        </p:nvSpPr>
        <p:spPr>
          <a:xfrm>
            <a:off x="2525260" y="2755679"/>
            <a:ext cx="1939584" cy="300082"/>
          </a:xfrm>
          <a:prstGeom prst="rect">
            <a:avLst/>
          </a:prstGeom>
          <a:noFill/>
          <a:ln/>
        </p:spPr>
        <p:txBody>
          <a:bodyPr wrap="square" lIns="102108" tIns="85090" rIns="102108" bIns="85090" rtlCol="0" anchor="ctr">
            <a:spAutoFit/>
          </a:bodyPr>
          <a:lstStyle/>
          <a:p>
            <a:pPr marL="0" indent="0" algn="l">
              <a:lnSpc>
                <a:spcPts val="1000"/>
              </a:lnSpc>
              <a:buNone/>
            </a:pPr>
            <a:r>
              <a:rPr lang="en-US" sz="1050" b="1" dirty="0">
                <a:solidFill>
                  <a:srgbClr val="2C3E50"/>
                </a:solidFill>
              </a:rPr>
              <a:t>13.4%</a:t>
            </a:r>
            <a:endParaRPr lang="en-US" sz="1050" dirty="0"/>
          </a:p>
        </p:txBody>
      </p:sp>
      <p:sp>
        <p:nvSpPr>
          <p:cNvPr id="25" name="Shape 22"/>
          <p:cNvSpPr/>
          <p:nvPr/>
        </p:nvSpPr>
        <p:spPr>
          <a:xfrm>
            <a:off x="500063" y="3166467"/>
            <a:ext cx="3964781" cy="371475"/>
          </a:xfrm>
          <a:prstGeom prst="rect">
            <a:avLst/>
          </a:prstGeom>
          <a:solidFill>
            <a:srgbClr val="FFE8E8"/>
          </a:solidFill>
          <a:ln/>
        </p:spPr>
      </p:sp>
      <p:sp>
        <p:nvSpPr>
          <p:cNvPr id="26" name="Text 23"/>
          <p:cNvSpPr/>
          <p:nvPr/>
        </p:nvSpPr>
        <p:spPr>
          <a:xfrm>
            <a:off x="585788" y="3237905"/>
            <a:ext cx="3793331" cy="307777"/>
          </a:xfrm>
          <a:prstGeom prst="rect">
            <a:avLst/>
          </a:prstGeom>
          <a:noFill/>
          <a:ln/>
        </p:spPr>
        <p:txBody>
          <a:bodyPr wrap="square" lIns="0" tIns="0" rIns="0" bIns="0" rtlCol="0" anchor="t">
            <a:spAutoFit/>
          </a:bodyPr>
          <a:lstStyle/>
          <a:p>
            <a:pPr marL="0" indent="0" algn="l">
              <a:lnSpc>
                <a:spcPts val="1200"/>
              </a:lnSpc>
              <a:buNone/>
            </a:pPr>
            <a:r>
              <a:rPr lang="en-US" sz="1050" b="1" dirty="0">
                <a:solidFill>
                  <a:srgbClr val="D63031"/>
                </a:solidFill>
              </a:rPr>
              <a:t>Alarming Trend: eSET usage drops to 26.1% in 4+ cycles while multiple births DOUBLE to 13.4%</a:t>
            </a:r>
            <a:endParaRPr lang="en-US" sz="1050" dirty="0"/>
          </a:p>
        </p:txBody>
      </p:sp>
      <p:pic>
        <p:nvPicPr>
          <p:cNvPr id="27" name="Image 1" descr="preencoded.png"/>
          <p:cNvPicPr>
            <a:picLocks noChangeAspect="1"/>
          </p:cNvPicPr>
          <p:nvPr/>
        </p:nvPicPr>
        <p:blipFill>
          <a:blip r:embed="rId4"/>
          <a:stretch>
            <a:fillRect/>
          </a:stretch>
        </p:blipFill>
        <p:spPr>
          <a:xfrm>
            <a:off x="500063" y="3623667"/>
            <a:ext cx="3964781" cy="1143000"/>
          </a:xfrm>
          <a:prstGeom prst="rect">
            <a:avLst/>
          </a:prstGeom>
        </p:spPr>
      </p:pic>
      <p:sp>
        <p:nvSpPr>
          <p:cNvPr id="28" name="Text 24"/>
          <p:cNvSpPr/>
          <p:nvPr/>
        </p:nvSpPr>
        <p:spPr>
          <a:xfrm>
            <a:off x="4679156" y="1353741"/>
            <a:ext cx="1035540"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Why This Happens</a:t>
            </a:r>
            <a:endParaRPr lang="en-US" sz="1050" dirty="0"/>
          </a:p>
        </p:txBody>
      </p:sp>
      <p:sp>
        <p:nvSpPr>
          <p:cNvPr id="29" name="Text 25"/>
          <p:cNvSpPr/>
          <p:nvPr/>
        </p:nvSpPr>
        <p:spPr>
          <a:xfrm>
            <a:off x="4679156" y="1594842"/>
            <a:ext cx="67326" cy="179536"/>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0" name="Text 26"/>
          <p:cNvSpPr/>
          <p:nvPr/>
        </p:nvSpPr>
        <p:spPr>
          <a:xfrm>
            <a:off x="4822031" y="1607344"/>
            <a:ext cx="4092467"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A6C7D"/>
                </a:solidFill>
              </a:rPr>
              <a:t>Repeated unsuccessful cycles create pressure to transfer multiple embryos</a:t>
            </a:r>
            <a:endParaRPr lang="en-US" sz="1050" dirty="0"/>
          </a:p>
        </p:txBody>
      </p:sp>
      <p:sp>
        <p:nvSpPr>
          <p:cNvPr id="31" name="Text 27"/>
          <p:cNvSpPr/>
          <p:nvPr/>
        </p:nvSpPr>
        <p:spPr>
          <a:xfrm>
            <a:off x="4679156" y="1837730"/>
            <a:ext cx="67326" cy="179536"/>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2" name="Text 28"/>
          <p:cNvSpPr/>
          <p:nvPr/>
        </p:nvSpPr>
        <p:spPr>
          <a:xfrm>
            <a:off x="4822031" y="1850231"/>
            <a:ext cx="2330766"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A6C7D"/>
                </a:solidFill>
              </a:rPr>
              <a:t>Patients seek to maximize success chances</a:t>
            </a:r>
            <a:endParaRPr lang="en-US" sz="1050" dirty="0"/>
          </a:p>
        </p:txBody>
      </p:sp>
      <p:sp>
        <p:nvSpPr>
          <p:cNvPr id="33" name="Text 29"/>
          <p:cNvSpPr/>
          <p:nvPr/>
        </p:nvSpPr>
        <p:spPr>
          <a:xfrm>
            <a:off x="4679156" y="2080617"/>
            <a:ext cx="67326" cy="179536"/>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4" name="Text 30"/>
          <p:cNvSpPr/>
          <p:nvPr/>
        </p:nvSpPr>
        <p:spPr>
          <a:xfrm>
            <a:off x="4822031" y="2093119"/>
            <a:ext cx="3592106" cy="35907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A6C7D"/>
                </a:solidFill>
              </a:rPr>
              <a:t>Multiple pregnancies carry substantially higher risks: preterm birth, low birth weight, maternal complications</a:t>
            </a:r>
            <a:endParaRPr lang="en-US" sz="1050" dirty="0"/>
          </a:p>
        </p:txBody>
      </p:sp>
      <p:sp>
        <p:nvSpPr>
          <p:cNvPr id="35" name="Text 31"/>
          <p:cNvSpPr/>
          <p:nvPr/>
        </p:nvSpPr>
        <p:spPr>
          <a:xfrm>
            <a:off x="4679156" y="2566392"/>
            <a:ext cx="1125308"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HFEA Policy Context</a:t>
            </a:r>
            <a:endParaRPr lang="en-US" sz="1050" dirty="0"/>
          </a:p>
        </p:txBody>
      </p:sp>
      <p:sp>
        <p:nvSpPr>
          <p:cNvPr id="36" name="Text 32"/>
          <p:cNvSpPr/>
          <p:nvPr/>
        </p:nvSpPr>
        <p:spPr>
          <a:xfrm>
            <a:off x="4679156" y="2807494"/>
            <a:ext cx="67326" cy="179536"/>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7" name="Text 33"/>
          <p:cNvSpPr/>
          <p:nvPr/>
        </p:nvSpPr>
        <p:spPr>
          <a:xfrm>
            <a:off x="4822031" y="2819995"/>
            <a:ext cx="2733121"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A6C7D"/>
                </a:solidFill>
              </a:rPr>
              <a:t>HFEA working to reduce multiple birth rates in IVF</a:t>
            </a:r>
            <a:endParaRPr lang="en-US" sz="1050" dirty="0"/>
          </a:p>
        </p:txBody>
      </p:sp>
      <p:sp>
        <p:nvSpPr>
          <p:cNvPr id="38" name="Text 34"/>
          <p:cNvSpPr/>
          <p:nvPr/>
        </p:nvSpPr>
        <p:spPr>
          <a:xfrm>
            <a:off x="4679156" y="3050381"/>
            <a:ext cx="67326" cy="179536"/>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39" name="Text 35"/>
          <p:cNvSpPr/>
          <p:nvPr/>
        </p:nvSpPr>
        <p:spPr>
          <a:xfrm>
            <a:off x="4822031" y="3062883"/>
            <a:ext cx="2856551"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A6C7D"/>
                </a:solidFill>
              </a:rPr>
              <a:t>Targets minimize twin and higher-order pregnancies</a:t>
            </a:r>
            <a:endParaRPr lang="en-US" sz="1050" dirty="0"/>
          </a:p>
        </p:txBody>
      </p:sp>
      <p:sp>
        <p:nvSpPr>
          <p:cNvPr id="40" name="Text 36"/>
          <p:cNvSpPr/>
          <p:nvPr/>
        </p:nvSpPr>
        <p:spPr>
          <a:xfrm>
            <a:off x="4679156" y="3293269"/>
            <a:ext cx="67326" cy="179536"/>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4A098"/>
                </a:solidFill>
              </a:rPr>
              <a:t>•</a:t>
            </a:r>
            <a:endParaRPr lang="en-US" sz="1050" dirty="0"/>
          </a:p>
        </p:txBody>
      </p:sp>
      <p:sp>
        <p:nvSpPr>
          <p:cNvPr id="41" name="Text 37"/>
          <p:cNvSpPr/>
          <p:nvPr/>
        </p:nvSpPr>
        <p:spPr>
          <a:xfrm>
            <a:off x="4822031" y="3305770"/>
            <a:ext cx="2766783" cy="1795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A6C7D"/>
                </a:solidFill>
              </a:rPr>
              <a:t>Trend in our data runs counter to safety objectives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28625"/>
            <a:ext cx="6896953" cy="339195"/>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Two Distinct Patient Populations Emerge</a:t>
            </a:r>
            <a:endParaRPr lang="en-US" sz="3200" dirty="0"/>
          </a:p>
        </p:txBody>
      </p:sp>
      <p:sp>
        <p:nvSpPr>
          <p:cNvPr id="4" name="Text 1"/>
          <p:cNvSpPr/>
          <p:nvPr/>
        </p:nvSpPr>
        <p:spPr>
          <a:xfrm>
            <a:off x="500063" y="850106"/>
            <a:ext cx="7088479" cy="128240"/>
          </a:xfrm>
          <a:prstGeom prst="rect">
            <a:avLst/>
          </a:prstGeom>
          <a:noFill/>
          <a:ln/>
        </p:spPr>
        <p:txBody>
          <a:bodyPr wrap="none" lIns="0" tIns="0" rIns="0" bIns="0" rtlCol="0" anchor="t">
            <a:spAutoFit/>
          </a:bodyPr>
          <a:lstStyle/>
          <a:p>
            <a:pPr marL="0" indent="0" algn="l">
              <a:lnSpc>
                <a:spcPts val="1000"/>
              </a:lnSpc>
              <a:buNone/>
            </a:pPr>
            <a:r>
              <a:rPr lang="en-US" sz="1100" dirty="0">
                <a:solidFill>
                  <a:srgbClr val="5A6C7D"/>
                </a:solidFill>
              </a:rPr>
              <a:t>Unexpected Finding: By 6th cycle, 37% of patients already have children—seeking additional children, not first-time success.</a:t>
            </a:r>
            <a:endParaRPr lang="en-US" sz="1100" dirty="0"/>
          </a:p>
        </p:txBody>
      </p:sp>
      <p:pic>
        <p:nvPicPr>
          <p:cNvPr id="5" name="Image 1" descr="preencoded.png"/>
          <p:cNvPicPr>
            <a:picLocks noChangeAspect="1"/>
          </p:cNvPicPr>
          <p:nvPr/>
        </p:nvPicPr>
        <p:blipFill>
          <a:blip r:embed="rId4"/>
          <a:stretch>
            <a:fillRect/>
          </a:stretch>
        </p:blipFill>
        <p:spPr>
          <a:xfrm>
            <a:off x="500063" y="1246584"/>
            <a:ext cx="3893344" cy="2143125"/>
          </a:xfrm>
          <a:prstGeom prst="rect">
            <a:avLst/>
          </a:prstGeom>
        </p:spPr>
      </p:pic>
      <p:sp>
        <p:nvSpPr>
          <p:cNvPr id="6" name="Shape 2"/>
          <p:cNvSpPr/>
          <p:nvPr/>
        </p:nvSpPr>
        <p:spPr>
          <a:xfrm>
            <a:off x="500063" y="3568303"/>
            <a:ext cx="3893344" cy="1121904"/>
          </a:xfrm>
          <a:prstGeom prst="rect">
            <a:avLst/>
          </a:prstGeom>
          <a:solidFill>
            <a:srgbClr val="E8F4F4"/>
          </a:solidFill>
          <a:ln/>
        </p:spPr>
      </p:sp>
      <p:sp>
        <p:nvSpPr>
          <p:cNvPr id="7" name="Text 3"/>
          <p:cNvSpPr/>
          <p:nvPr/>
        </p:nvSpPr>
        <p:spPr>
          <a:xfrm>
            <a:off x="642938" y="3696891"/>
            <a:ext cx="791883" cy="115416"/>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0D7377"/>
                </a:solidFill>
              </a:rPr>
              <a:t>Interpretation:</a:t>
            </a:r>
            <a:endParaRPr lang="en-US" sz="1000" dirty="0"/>
          </a:p>
        </p:txBody>
      </p:sp>
      <p:sp>
        <p:nvSpPr>
          <p:cNvPr id="8" name="Text 4"/>
          <p:cNvSpPr/>
          <p:nvPr/>
        </p:nvSpPr>
        <p:spPr>
          <a:xfrm>
            <a:off x="642938" y="3904059"/>
            <a:ext cx="3607594" cy="666849"/>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2C3E50"/>
                </a:solidFill>
              </a:rPr>
              <a:t>The 1st cycle cohort is 98.5% seeking their first child, while the 6th cycle cohort is 37% seeking additional children. These are fundamentally different populations with different clinical and policy considerations.</a:t>
            </a:r>
            <a:endParaRPr lang="en-US" sz="1000" dirty="0"/>
          </a:p>
        </p:txBody>
      </p:sp>
      <p:sp>
        <p:nvSpPr>
          <p:cNvPr id="9" name="Text 5"/>
          <p:cNvSpPr/>
          <p:nvPr/>
        </p:nvSpPr>
        <p:spPr>
          <a:xfrm>
            <a:off x="4750594" y="1246584"/>
            <a:ext cx="1723805" cy="179536"/>
          </a:xfrm>
          <a:prstGeom prst="rect">
            <a:avLst/>
          </a:prstGeom>
          <a:noFill/>
          <a:ln/>
        </p:spPr>
        <p:txBody>
          <a:bodyPr wrap="none" lIns="0" tIns="0" rIns="0" bIns="0" rtlCol="0" anchor="t">
            <a:spAutoFit/>
          </a:bodyPr>
          <a:lstStyle/>
          <a:p>
            <a:pPr marL="0" indent="0" algn="l">
              <a:lnSpc>
                <a:spcPts val="1400"/>
              </a:lnSpc>
              <a:buNone/>
            </a:pPr>
            <a:r>
              <a:rPr lang="en-US" sz="1200" b="1" dirty="0">
                <a:solidFill>
                  <a:srgbClr val="2C3E50"/>
                </a:solidFill>
              </a:rPr>
              <a:t>Policy Question This Raises</a:t>
            </a:r>
            <a:endParaRPr lang="en-US" sz="1200" dirty="0"/>
          </a:p>
        </p:txBody>
      </p:sp>
      <p:sp>
        <p:nvSpPr>
          <p:cNvPr id="10" name="Text 6"/>
          <p:cNvSpPr/>
          <p:nvPr/>
        </p:nvSpPr>
        <p:spPr>
          <a:xfrm>
            <a:off x="4750594" y="1584127"/>
            <a:ext cx="3893344" cy="538609"/>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5A6C7D"/>
                </a:solidFill>
              </a:rPr>
              <a:t>Should NHS funding prioritize first-time parents versus those seeking additional children? Current NICE guidelines do not explicitly distinguish. Arguments exist on both sides:</a:t>
            </a:r>
            <a:endParaRPr lang="en-US" sz="1100" dirty="0"/>
          </a:p>
        </p:txBody>
      </p:sp>
      <p:sp>
        <p:nvSpPr>
          <p:cNvPr id="11" name="Text 7"/>
          <p:cNvSpPr/>
          <p:nvPr/>
        </p:nvSpPr>
        <p:spPr>
          <a:xfrm>
            <a:off x="4750594" y="2277070"/>
            <a:ext cx="1670329" cy="128240"/>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0D7377"/>
                </a:solidFill>
              </a:rPr>
              <a:t>Prioritize First-Time Parents:</a:t>
            </a:r>
            <a:endParaRPr lang="en-US" sz="1100" dirty="0"/>
          </a:p>
        </p:txBody>
      </p:sp>
      <p:sp>
        <p:nvSpPr>
          <p:cNvPr id="12" name="Text 8"/>
          <p:cNvSpPr/>
          <p:nvPr/>
        </p:nvSpPr>
        <p:spPr>
          <a:xfrm>
            <a:off x="4750594" y="2494955"/>
            <a:ext cx="6412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4A098"/>
                </a:solidFill>
              </a:rPr>
              <a:t>•</a:t>
            </a:r>
            <a:endParaRPr lang="en-US" sz="1000" dirty="0"/>
          </a:p>
        </p:txBody>
      </p:sp>
      <p:sp>
        <p:nvSpPr>
          <p:cNvPr id="13" name="Text 9"/>
          <p:cNvSpPr/>
          <p:nvPr/>
        </p:nvSpPr>
        <p:spPr>
          <a:xfrm>
            <a:off x="4879181" y="2502098"/>
            <a:ext cx="1947649" cy="153888"/>
          </a:xfrm>
          <a:prstGeom prst="rect">
            <a:avLst/>
          </a:prstGeom>
          <a:noFill/>
          <a:ln/>
        </p:spPr>
        <p:txBody>
          <a:bodyPr wrap="none" lIns="0" tIns="0" rIns="0" bIns="0" rtlCol="0" anchor="t">
            <a:spAutoFit/>
          </a:bodyPr>
          <a:lstStyle/>
          <a:p>
            <a:pPr marL="0" indent="0" algn="l">
              <a:lnSpc>
                <a:spcPts val="1200"/>
              </a:lnSpc>
              <a:buNone/>
            </a:pPr>
            <a:r>
              <a:rPr lang="en-US" sz="1050" dirty="0">
                <a:solidFill>
                  <a:srgbClr val="5A6C7D"/>
                </a:solidFill>
              </a:rPr>
              <a:t>Addresses involuntary childlessness</a:t>
            </a:r>
            <a:endParaRPr lang="en-US" sz="1050" dirty="0"/>
          </a:p>
        </p:txBody>
      </p:sp>
      <p:sp>
        <p:nvSpPr>
          <p:cNvPr id="14" name="Text 10"/>
          <p:cNvSpPr/>
          <p:nvPr/>
        </p:nvSpPr>
        <p:spPr>
          <a:xfrm>
            <a:off x="4750594" y="2687836"/>
            <a:ext cx="6412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4A098"/>
                </a:solidFill>
              </a:rPr>
              <a:t>•</a:t>
            </a:r>
            <a:endParaRPr lang="en-US" sz="1000" dirty="0"/>
          </a:p>
        </p:txBody>
      </p:sp>
      <p:sp>
        <p:nvSpPr>
          <p:cNvPr id="15" name="Text 11"/>
          <p:cNvSpPr/>
          <p:nvPr/>
        </p:nvSpPr>
        <p:spPr>
          <a:xfrm>
            <a:off x="4879181" y="2694980"/>
            <a:ext cx="2047035" cy="153888"/>
          </a:xfrm>
          <a:prstGeom prst="rect">
            <a:avLst/>
          </a:prstGeom>
          <a:noFill/>
          <a:ln/>
        </p:spPr>
        <p:txBody>
          <a:bodyPr wrap="none" lIns="0" tIns="0" rIns="0" bIns="0" rtlCol="0" anchor="t">
            <a:spAutoFit/>
          </a:bodyPr>
          <a:lstStyle/>
          <a:p>
            <a:pPr marL="0" indent="0" algn="l">
              <a:lnSpc>
                <a:spcPts val="1200"/>
              </a:lnSpc>
              <a:buNone/>
            </a:pPr>
            <a:r>
              <a:rPr lang="en-US" sz="1050" dirty="0">
                <a:solidFill>
                  <a:srgbClr val="5A6C7D"/>
                </a:solidFill>
              </a:rPr>
              <a:t>Maximizes number of families helped</a:t>
            </a:r>
            <a:endParaRPr lang="en-US" sz="1050" dirty="0"/>
          </a:p>
        </p:txBody>
      </p:sp>
      <p:sp>
        <p:nvSpPr>
          <p:cNvPr id="16" name="Text 12"/>
          <p:cNvSpPr/>
          <p:nvPr/>
        </p:nvSpPr>
        <p:spPr>
          <a:xfrm>
            <a:off x="4750594" y="2880717"/>
            <a:ext cx="6412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4A098"/>
                </a:solidFill>
              </a:rPr>
              <a:t>•</a:t>
            </a:r>
            <a:endParaRPr lang="en-US" sz="1000" dirty="0"/>
          </a:p>
        </p:txBody>
      </p:sp>
      <p:sp>
        <p:nvSpPr>
          <p:cNvPr id="17" name="Text 13"/>
          <p:cNvSpPr/>
          <p:nvPr/>
        </p:nvSpPr>
        <p:spPr>
          <a:xfrm>
            <a:off x="4879181" y="2887861"/>
            <a:ext cx="2160848" cy="153888"/>
          </a:xfrm>
          <a:prstGeom prst="rect">
            <a:avLst/>
          </a:prstGeom>
          <a:noFill/>
          <a:ln/>
        </p:spPr>
        <p:txBody>
          <a:bodyPr wrap="none" lIns="0" tIns="0" rIns="0" bIns="0" rtlCol="0" anchor="t">
            <a:spAutoFit/>
          </a:bodyPr>
          <a:lstStyle/>
          <a:p>
            <a:pPr marL="0" indent="0" algn="l">
              <a:lnSpc>
                <a:spcPts val="1200"/>
              </a:lnSpc>
              <a:buNone/>
            </a:pPr>
            <a:r>
              <a:rPr lang="en-US" sz="1050" dirty="0">
                <a:solidFill>
                  <a:srgbClr val="5A6C7D"/>
                </a:solidFill>
              </a:rPr>
              <a:t>Greater psychological and social impact</a:t>
            </a:r>
            <a:endParaRPr lang="en-US" sz="1050" dirty="0"/>
          </a:p>
        </p:txBody>
      </p:sp>
      <p:sp>
        <p:nvSpPr>
          <p:cNvPr id="18" name="Text 14"/>
          <p:cNvSpPr/>
          <p:nvPr/>
        </p:nvSpPr>
        <p:spPr>
          <a:xfrm>
            <a:off x="4750594" y="3173611"/>
            <a:ext cx="2383666" cy="128240"/>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0D7377"/>
                </a:solidFill>
              </a:rPr>
              <a:t>Equal Treatment for Additional Children:</a:t>
            </a:r>
            <a:endParaRPr lang="en-US" sz="1100" dirty="0"/>
          </a:p>
        </p:txBody>
      </p:sp>
      <p:sp>
        <p:nvSpPr>
          <p:cNvPr id="19" name="Text 15"/>
          <p:cNvSpPr/>
          <p:nvPr/>
        </p:nvSpPr>
        <p:spPr>
          <a:xfrm>
            <a:off x="4750594" y="3391495"/>
            <a:ext cx="6412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4A098"/>
                </a:solidFill>
              </a:rPr>
              <a:t>•</a:t>
            </a:r>
            <a:endParaRPr lang="en-US" sz="1000" dirty="0"/>
          </a:p>
        </p:txBody>
      </p:sp>
      <p:sp>
        <p:nvSpPr>
          <p:cNvPr id="20" name="Text 16"/>
          <p:cNvSpPr/>
          <p:nvPr/>
        </p:nvSpPr>
        <p:spPr>
          <a:xfrm>
            <a:off x="4879181" y="3398639"/>
            <a:ext cx="2521524" cy="153888"/>
          </a:xfrm>
          <a:prstGeom prst="rect">
            <a:avLst/>
          </a:prstGeom>
          <a:noFill/>
          <a:ln/>
        </p:spPr>
        <p:txBody>
          <a:bodyPr wrap="none" lIns="0" tIns="0" rIns="0" bIns="0" rtlCol="0" anchor="t">
            <a:spAutoFit/>
          </a:bodyPr>
          <a:lstStyle/>
          <a:p>
            <a:pPr marL="0" indent="0" algn="l">
              <a:lnSpc>
                <a:spcPts val="1200"/>
              </a:lnSpc>
              <a:buNone/>
            </a:pPr>
            <a:r>
              <a:rPr lang="en-US" sz="1050" dirty="0">
                <a:solidFill>
                  <a:srgbClr val="5A6C7D"/>
                </a:solidFill>
              </a:rPr>
              <a:t>Family size preferences are personal decisions</a:t>
            </a:r>
            <a:endParaRPr lang="en-US" sz="1050" dirty="0"/>
          </a:p>
        </p:txBody>
      </p:sp>
      <p:sp>
        <p:nvSpPr>
          <p:cNvPr id="21" name="Text 17"/>
          <p:cNvSpPr/>
          <p:nvPr/>
        </p:nvSpPr>
        <p:spPr>
          <a:xfrm>
            <a:off x="4750594" y="3584377"/>
            <a:ext cx="6412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4A098"/>
                </a:solidFill>
              </a:rPr>
              <a:t>•</a:t>
            </a:r>
            <a:endParaRPr lang="en-US" sz="1000" dirty="0"/>
          </a:p>
        </p:txBody>
      </p:sp>
      <p:sp>
        <p:nvSpPr>
          <p:cNvPr id="22" name="Text 18"/>
          <p:cNvSpPr/>
          <p:nvPr/>
        </p:nvSpPr>
        <p:spPr>
          <a:xfrm>
            <a:off x="4879181" y="3591520"/>
            <a:ext cx="2404504" cy="153888"/>
          </a:xfrm>
          <a:prstGeom prst="rect">
            <a:avLst/>
          </a:prstGeom>
          <a:noFill/>
          <a:ln/>
        </p:spPr>
        <p:txBody>
          <a:bodyPr wrap="none" lIns="0" tIns="0" rIns="0" bIns="0" rtlCol="0" anchor="t">
            <a:spAutoFit/>
          </a:bodyPr>
          <a:lstStyle/>
          <a:p>
            <a:pPr marL="0" indent="0" algn="l">
              <a:lnSpc>
                <a:spcPts val="1200"/>
              </a:lnSpc>
              <a:buNone/>
            </a:pPr>
            <a:r>
              <a:rPr lang="en-US" sz="1050" dirty="0">
                <a:solidFill>
                  <a:srgbClr val="5A6C7D"/>
                </a:solidFill>
              </a:rPr>
              <a:t>Siblings provide benefits to existing children</a:t>
            </a:r>
            <a:endParaRPr lang="en-US" sz="1050" dirty="0"/>
          </a:p>
        </p:txBody>
      </p:sp>
      <p:sp>
        <p:nvSpPr>
          <p:cNvPr id="23" name="Text 19"/>
          <p:cNvSpPr/>
          <p:nvPr/>
        </p:nvSpPr>
        <p:spPr>
          <a:xfrm>
            <a:off x="4750594" y="3777258"/>
            <a:ext cx="64120"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4A098"/>
                </a:solidFill>
              </a:rPr>
              <a:t>•</a:t>
            </a:r>
            <a:endParaRPr lang="en-US" sz="1000" dirty="0"/>
          </a:p>
        </p:txBody>
      </p:sp>
      <p:sp>
        <p:nvSpPr>
          <p:cNvPr id="24" name="Text 20"/>
          <p:cNvSpPr/>
          <p:nvPr/>
        </p:nvSpPr>
        <p:spPr>
          <a:xfrm>
            <a:off x="4879181" y="3784402"/>
            <a:ext cx="1970091" cy="153888"/>
          </a:xfrm>
          <a:prstGeom prst="rect">
            <a:avLst/>
          </a:prstGeom>
          <a:noFill/>
          <a:ln/>
        </p:spPr>
        <p:txBody>
          <a:bodyPr wrap="none" lIns="0" tIns="0" rIns="0" bIns="0" rtlCol="0" anchor="t">
            <a:spAutoFit/>
          </a:bodyPr>
          <a:lstStyle/>
          <a:p>
            <a:pPr marL="0" indent="0" algn="l">
              <a:lnSpc>
                <a:spcPts val="1200"/>
              </a:lnSpc>
              <a:buNone/>
            </a:pPr>
            <a:r>
              <a:rPr lang="en-US" sz="1050" dirty="0">
                <a:solidFill>
                  <a:srgbClr val="5A6C7D"/>
                </a:solidFill>
              </a:rPr>
              <a:t>Equity principle: same medical need</a:t>
            </a:r>
            <a:endParaRPr lang="en-US" sz="1050" dirty="0"/>
          </a:p>
        </p:txBody>
      </p:sp>
      <p:sp>
        <p:nvSpPr>
          <p:cNvPr id="25" name="Shape 21"/>
          <p:cNvSpPr/>
          <p:nvPr/>
        </p:nvSpPr>
        <p:spPr>
          <a:xfrm>
            <a:off x="4750594" y="4070152"/>
            <a:ext cx="3893344" cy="800174"/>
          </a:xfrm>
          <a:prstGeom prst="rect">
            <a:avLst/>
          </a:prstGeom>
          <a:solidFill>
            <a:srgbClr val="F0F9F9"/>
          </a:solidFill>
          <a:ln/>
        </p:spPr>
      </p:sp>
      <p:sp>
        <p:nvSpPr>
          <p:cNvPr id="26" name="Text 22"/>
          <p:cNvSpPr/>
          <p:nvPr/>
        </p:nvSpPr>
        <p:spPr>
          <a:xfrm>
            <a:off x="4879181" y="4177308"/>
            <a:ext cx="742191" cy="115416"/>
          </a:xfrm>
          <a:prstGeom prst="rect">
            <a:avLst/>
          </a:prstGeom>
          <a:noFill/>
          <a:ln/>
        </p:spPr>
        <p:txBody>
          <a:bodyPr wrap="none" lIns="0" tIns="0" rIns="0" bIns="0" rtlCol="0" anchor="t">
            <a:spAutoFit/>
          </a:bodyPr>
          <a:lstStyle/>
          <a:p>
            <a:pPr marL="0" indent="0" algn="l">
              <a:lnSpc>
                <a:spcPts val="900"/>
              </a:lnSpc>
              <a:buNone/>
            </a:pPr>
            <a:r>
              <a:rPr lang="en-US" sz="1100" b="1" dirty="0">
                <a:solidFill>
                  <a:srgbClr val="0D7377"/>
                </a:solidFill>
              </a:rPr>
              <a:t>Data Insight:</a:t>
            </a:r>
            <a:endParaRPr lang="en-US" sz="1100" dirty="0"/>
          </a:p>
        </p:txBody>
      </p:sp>
      <p:sp>
        <p:nvSpPr>
          <p:cNvPr id="27" name="Text 23"/>
          <p:cNvSpPr/>
          <p:nvPr/>
        </p:nvSpPr>
        <p:spPr>
          <a:xfrm>
            <a:off x="4879181" y="4370189"/>
            <a:ext cx="3636169" cy="500137"/>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2C3E50"/>
                </a:solidFill>
              </a:rPr>
              <a:t>Later cycles serve different populations. Policy should explicitly address whether funding priorities differ for first versus additional children.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91733"/>
          </a:xfrm>
          <a:prstGeom prst="rect">
            <a:avLst/>
          </a:prstGeom>
        </p:spPr>
      </p:pic>
      <p:sp>
        <p:nvSpPr>
          <p:cNvPr id="3" name="Text 0"/>
          <p:cNvSpPr/>
          <p:nvPr/>
        </p:nvSpPr>
        <p:spPr>
          <a:xfrm>
            <a:off x="500063" y="428625"/>
            <a:ext cx="5846280" cy="307777"/>
          </a:xfrm>
          <a:prstGeom prst="rect">
            <a:avLst/>
          </a:prstGeom>
          <a:noFill/>
          <a:ln/>
        </p:spPr>
        <p:txBody>
          <a:bodyPr wrap="none" lIns="0" tIns="0" rIns="0" bIns="0" rtlCol="0" anchor="t">
            <a:spAutoFit/>
          </a:bodyPr>
          <a:lstStyle/>
          <a:p>
            <a:pPr marL="0" indent="0" algn="l">
              <a:lnSpc>
                <a:spcPts val="2400"/>
              </a:lnSpc>
              <a:buNone/>
            </a:pPr>
            <a:r>
              <a:rPr lang="en-US" sz="2800" b="1" dirty="0">
                <a:solidFill>
                  <a:srgbClr val="0D7377"/>
                </a:solidFill>
              </a:rPr>
              <a:t>Selection Bias - The Critical Confounder</a:t>
            </a:r>
            <a:endParaRPr lang="en-US" sz="2800" dirty="0"/>
          </a:p>
        </p:txBody>
      </p:sp>
      <p:sp>
        <p:nvSpPr>
          <p:cNvPr id="4" name="Text 1"/>
          <p:cNvSpPr/>
          <p:nvPr/>
        </p:nvSpPr>
        <p:spPr>
          <a:xfrm>
            <a:off x="500063" y="850106"/>
            <a:ext cx="7019550" cy="128240"/>
          </a:xfrm>
          <a:prstGeom prst="rect">
            <a:avLst/>
          </a:prstGeom>
          <a:noFill/>
          <a:ln/>
        </p:spPr>
        <p:txBody>
          <a:bodyPr wrap="none" lIns="0" tIns="0" rIns="0" bIns="0" rtlCol="0" anchor="t">
            <a:spAutoFit/>
          </a:bodyPr>
          <a:lstStyle/>
          <a:p>
            <a:pPr marL="0" indent="0" algn="l">
              <a:lnSpc>
                <a:spcPts val="1000"/>
              </a:lnSpc>
              <a:buNone/>
            </a:pPr>
            <a:r>
              <a:rPr lang="en-US" sz="1100" b="1" dirty="0">
                <a:solidFill>
                  <a:srgbClr val="FF6B6B"/>
                </a:solidFill>
              </a:rPr>
              <a:t>Most Important Analytical Challenge: Patients reaching 4+ cycles have worse prognosis than the general IVF population.</a:t>
            </a:r>
            <a:endParaRPr lang="en-US" sz="1100" dirty="0"/>
          </a:p>
        </p:txBody>
      </p:sp>
      <p:sp>
        <p:nvSpPr>
          <p:cNvPr id="5" name="Text 2"/>
          <p:cNvSpPr/>
          <p:nvPr/>
        </p:nvSpPr>
        <p:spPr>
          <a:xfrm>
            <a:off x="500063" y="1210866"/>
            <a:ext cx="1394613" cy="179536"/>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2C3E50"/>
                </a:solidFill>
              </a:rPr>
              <a:t>Patient Cohort Attrition</a:t>
            </a:r>
            <a:endParaRPr lang="en-US" sz="1100" dirty="0"/>
          </a:p>
        </p:txBody>
      </p:sp>
      <p:sp>
        <p:nvSpPr>
          <p:cNvPr id="6" name="Shape 3"/>
          <p:cNvSpPr/>
          <p:nvPr/>
        </p:nvSpPr>
        <p:spPr>
          <a:xfrm>
            <a:off x="500063" y="1548408"/>
            <a:ext cx="828591" cy="321469"/>
          </a:xfrm>
          <a:prstGeom prst="rect">
            <a:avLst/>
          </a:prstGeom>
          <a:solidFill>
            <a:srgbClr val="E8F4F4"/>
          </a:solidFill>
          <a:ln/>
        </p:spPr>
      </p:sp>
      <p:sp>
        <p:nvSpPr>
          <p:cNvPr id="7" name="Text 4"/>
          <p:cNvSpPr/>
          <p:nvPr/>
        </p:nvSpPr>
        <p:spPr>
          <a:xfrm>
            <a:off x="500063" y="1541917"/>
            <a:ext cx="828591"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Cycle</a:t>
            </a:r>
            <a:endParaRPr lang="en-US" sz="1000" dirty="0"/>
          </a:p>
        </p:txBody>
      </p:sp>
      <p:sp>
        <p:nvSpPr>
          <p:cNvPr id="8" name="Shape 5"/>
          <p:cNvSpPr/>
          <p:nvPr/>
        </p:nvSpPr>
        <p:spPr>
          <a:xfrm>
            <a:off x="1328654" y="1548408"/>
            <a:ext cx="1468180" cy="321469"/>
          </a:xfrm>
          <a:prstGeom prst="rect">
            <a:avLst/>
          </a:prstGeom>
          <a:solidFill>
            <a:srgbClr val="E8F4F4"/>
          </a:solidFill>
          <a:ln/>
        </p:spPr>
      </p:sp>
      <p:sp>
        <p:nvSpPr>
          <p:cNvPr id="9" name="Text 6"/>
          <p:cNvSpPr/>
          <p:nvPr/>
        </p:nvSpPr>
        <p:spPr>
          <a:xfrm>
            <a:off x="1328654" y="1541917"/>
            <a:ext cx="1468180"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Sample Size</a:t>
            </a:r>
            <a:endParaRPr lang="en-US" sz="1000" dirty="0"/>
          </a:p>
        </p:txBody>
      </p:sp>
      <p:sp>
        <p:nvSpPr>
          <p:cNvPr id="10" name="Shape 7"/>
          <p:cNvSpPr/>
          <p:nvPr/>
        </p:nvSpPr>
        <p:spPr>
          <a:xfrm>
            <a:off x="2796834" y="1548408"/>
            <a:ext cx="1596572" cy="321469"/>
          </a:xfrm>
          <a:prstGeom prst="rect">
            <a:avLst/>
          </a:prstGeom>
          <a:solidFill>
            <a:srgbClr val="E8F4F4"/>
          </a:solidFill>
          <a:ln/>
        </p:spPr>
      </p:sp>
      <p:sp>
        <p:nvSpPr>
          <p:cNvPr id="11" name="Text 8"/>
          <p:cNvSpPr/>
          <p:nvPr/>
        </p:nvSpPr>
        <p:spPr>
          <a:xfrm>
            <a:off x="2796834" y="1541917"/>
            <a:ext cx="1596572" cy="334451"/>
          </a:xfrm>
          <a:prstGeom prst="rect">
            <a:avLst/>
          </a:prstGeom>
          <a:noFill/>
          <a:ln/>
        </p:spPr>
        <p:txBody>
          <a:bodyPr wrap="square" lIns="102108" tIns="102108" rIns="102108" bIns="102108" rtlCol="0" anchor="ctr">
            <a:spAutoFit/>
          </a:bodyPr>
          <a:lstStyle/>
          <a:p>
            <a:pPr marL="0" indent="0" algn="l">
              <a:lnSpc>
                <a:spcPts val="1000"/>
              </a:lnSpc>
              <a:buNone/>
            </a:pPr>
            <a:r>
              <a:rPr lang="en-US" sz="1000" b="1" dirty="0">
                <a:solidFill>
                  <a:srgbClr val="0D7377"/>
                </a:solidFill>
              </a:rPr>
              <a:t>% Remaining</a:t>
            </a:r>
            <a:endParaRPr lang="en-US" sz="1000" dirty="0"/>
          </a:p>
        </p:txBody>
      </p:sp>
      <p:sp>
        <p:nvSpPr>
          <p:cNvPr id="12" name="Text 9"/>
          <p:cNvSpPr/>
          <p:nvPr/>
        </p:nvSpPr>
        <p:spPr>
          <a:xfrm>
            <a:off x="500063" y="1868069"/>
            <a:ext cx="82859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1st</a:t>
            </a:r>
            <a:endParaRPr lang="en-US" sz="1000" dirty="0"/>
          </a:p>
        </p:txBody>
      </p:sp>
      <p:sp>
        <p:nvSpPr>
          <p:cNvPr id="13" name="Text 10"/>
          <p:cNvSpPr/>
          <p:nvPr/>
        </p:nvSpPr>
        <p:spPr>
          <a:xfrm>
            <a:off x="1328654" y="1868069"/>
            <a:ext cx="146818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72,758</a:t>
            </a:r>
            <a:endParaRPr lang="en-US" sz="1000" dirty="0"/>
          </a:p>
        </p:txBody>
      </p:sp>
      <p:sp>
        <p:nvSpPr>
          <p:cNvPr id="14" name="Text 11"/>
          <p:cNvSpPr/>
          <p:nvPr/>
        </p:nvSpPr>
        <p:spPr>
          <a:xfrm>
            <a:off x="2796834" y="1868069"/>
            <a:ext cx="15965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100%</a:t>
            </a:r>
            <a:endParaRPr lang="en-US" sz="1000" dirty="0"/>
          </a:p>
        </p:txBody>
      </p:sp>
      <p:sp>
        <p:nvSpPr>
          <p:cNvPr id="15" name="Text 12"/>
          <p:cNvSpPr/>
          <p:nvPr/>
        </p:nvSpPr>
        <p:spPr>
          <a:xfrm>
            <a:off x="500063" y="2164534"/>
            <a:ext cx="82859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2nd</a:t>
            </a:r>
            <a:endParaRPr lang="en-US" sz="1000" dirty="0"/>
          </a:p>
        </p:txBody>
      </p:sp>
      <p:sp>
        <p:nvSpPr>
          <p:cNvPr id="16" name="Text 13"/>
          <p:cNvSpPr/>
          <p:nvPr/>
        </p:nvSpPr>
        <p:spPr>
          <a:xfrm>
            <a:off x="1328654" y="2164534"/>
            <a:ext cx="146818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40,631</a:t>
            </a:r>
            <a:endParaRPr lang="en-US" sz="1000" dirty="0"/>
          </a:p>
        </p:txBody>
      </p:sp>
      <p:sp>
        <p:nvSpPr>
          <p:cNvPr id="17" name="Text 14"/>
          <p:cNvSpPr/>
          <p:nvPr/>
        </p:nvSpPr>
        <p:spPr>
          <a:xfrm>
            <a:off x="2796834" y="2164534"/>
            <a:ext cx="15965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56%</a:t>
            </a:r>
            <a:endParaRPr lang="en-US" sz="1000" dirty="0"/>
          </a:p>
        </p:txBody>
      </p:sp>
      <p:sp>
        <p:nvSpPr>
          <p:cNvPr id="18" name="Text 15"/>
          <p:cNvSpPr/>
          <p:nvPr/>
        </p:nvSpPr>
        <p:spPr>
          <a:xfrm>
            <a:off x="500063" y="2461000"/>
            <a:ext cx="82859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3rd</a:t>
            </a:r>
            <a:endParaRPr lang="en-US" sz="1000" dirty="0"/>
          </a:p>
        </p:txBody>
      </p:sp>
      <p:sp>
        <p:nvSpPr>
          <p:cNvPr id="19" name="Text 16"/>
          <p:cNvSpPr/>
          <p:nvPr/>
        </p:nvSpPr>
        <p:spPr>
          <a:xfrm>
            <a:off x="1328654" y="2461000"/>
            <a:ext cx="146818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24,011</a:t>
            </a:r>
            <a:endParaRPr lang="en-US" sz="1000" dirty="0"/>
          </a:p>
        </p:txBody>
      </p:sp>
      <p:sp>
        <p:nvSpPr>
          <p:cNvPr id="20" name="Text 17"/>
          <p:cNvSpPr/>
          <p:nvPr/>
        </p:nvSpPr>
        <p:spPr>
          <a:xfrm>
            <a:off x="2796834" y="2461000"/>
            <a:ext cx="15965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33%</a:t>
            </a:r>
            <a:endParaRPr lang="en-US" sz="1000" dirty="0"/>
          </a:p>
        </p:txBody>
      </p:sp>
      <p:sp>
        <p:nvSpPr>
          <p:cNvPr id="21" name="Text 18"/>
          <p:cNvSpPr/>
          <p:nvPr/>
        </p:nvSpPr>
        <p:spPr>
          <a:xfrm>
            <a:off x="500063" y="2757465"/>
            <a:ext cx="82859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4th</a:t>
            </a:r>
            <a:endParaRPr lang="en-US" sz="1000" dirty="0"/>
          </a:p>
        </p:txBody>
      </p:sp>
      <p:sp>
        <p:nvSpPr>
          <p:cNvPr id="22" name="Text 19"/>
          <p:cNvSpPr/>
          <p:nvPr/>
        </p:nvSpPr>
        <p:spPr>
          <a:xfrm>
            <a:off x="1328654" y="2757465"/>
            <a:ext cx="146818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13,623</a:t>
            </a:r>
            <a:endParaRPr lang="en-US" sz="1000" dirty="0"/>
          </a:p>
        </p:txBody>
      </p:sp>
      <p:sp>
        <p:nvSpPr>
          <p:cNvPr id="23" name="Text 20"/>
          <p:cNvSpPr/>
          <p:nvPr/>
        </p:nvSpPr>
        <p:spPr>
          <a:xfrm>
            <a:off x="2796834" y="2757465"/>
            <a:ext cx="15965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19%</a:t>
            </a:r>
            <a:endParaRPr lang="en-US" sz="1000" dirty="0"/>
          </a:p>
        </p:txBody>
      </p:sp>
      <p:sp>
        <p:nvSpPr>
          <p:cNvPr id="24" name="Text 21"/>
          <p:cNvSpPr/>
          <p:nvPr/>
        </p:nvSpPr>
        <p:spPr>
          <a:xfrm>
            <a:off x="500063" y="3053931"/>
            <a:ext cx="82859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5th</a:t>
            </a:r>
            <a:endParaRPr lang="en-US" sz="1000" dirty="0"/>
          </a:p>
        </p:txBody>
      </p:sp>
      <p:sp>
        <p:nvSpPr>
          <p:cNvPr id="25" name="Text 22"/>
          <p:cNvSpPr/>
          <p:nvPr/>
        </p:nvSpPr>
        <p:spPr>
          <a:xfrm>
            <a:off x="1328654" y="3053931"/>
            <a:ext cx="146818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7,695</a:t>
            </a:r>
            <a:endParaRPr lang="en-US" sz="1000" dirty="0"/>
          </a:p>
        </p:txBody>
      </p:sp>
      <p:sp>
        <p:nvSpPr>
          <p:cNvPr id="26" name="Text 23"/>
          <p:cNvSpPr/>
          <p:nvPr/>
        </p:nvSpPr>
        <p:spPr>
          <a:xfrm>
            <a:off x="2796834" y="3053931"/>
            <a:ext cx="15965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dirty="0">
                <a:solidFill>
                  <a:srgbClr val="2C3E50"/>
                </a:solidFill>
              </a:rPr>
              <a:t>11%</a:t>
            </a:r>
            <a:endParaRPr lang="en-US" sz="1000" dirty="0"/>
          </a:p>
        </p:txBody>
      </p:sp>
      <p:sp>
        <p:nvSpPr>
          <p:cNvPr id="27" name="Shape 24"/>
          <p:cNvSpPr/>
          <p:nvPr/>
        </p:nvSpPr>
        <p:spPr>
          <a:xfrm>
            <a:off x="500063" y="3352205"/>
            <a:ext cx="3893344" cy="292894"/>
          </a:xfrm>
          <a:prstGeom prst="rect">
            <a:avLst/>
          </a:prstGeom>
          <a:solidFill>
            <a:srgbClr val="FFF0F0"/>
          </a:solidFill>
          <a:ln/>
        </p:spPr>
      </p:sp>
      <p:sp>
        <p:nvSpPr>
          <p:cNvPr id="28" name="Text 25"/>
          <p:cNvSpPr/>
          <p:nvPr/>
        </p:nvSpPr>
        <p:spPr>
          <a:xfrm>
            <a:off x="500063" y="3348611"/>
            <a:ext cx="828591"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6th</a:t>
            </a:r>
            <a:endParaRPr lang="en-US" sz="1000" dirty="0"/>
          </a:p>
        </p:txBody>
      </p:sp>
      <p:sp>
        <p:nvSpPr>
          <p:cNvPr id="29" name="Text 26"/>
          <p:cNvSpPr/>
          <p:nvPr/>
        </p:nvSpPr>
        <p:spPr>
          <a:xfrm>
            <a:off x="1328654" y="3348611"/>
            <a:ext cx="1468180"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4,400</a:t>
            </a:r>
            <a:endParaRPr lang="en-US" sz="1000" dirty="0"/>
          </a:p>
        </p:txBody>
      </p:sp>
      <p:sp>
        <p:nvSpPr>
          <p:cNvPr id="30" name="Text 27"/>
          <p:cNvSpPr/>
          <p:nvPr/>
        </p:nvSpPr>
        <p:spPr>
          <a:xfrm>
            <a:off x="2796834" y="3348611"/>
            <a:ext cx="1596572" cy="300082"/>
          </a:xfrm>
          <a:prstGeom prst="rect">
            <a:avLst/>
          </a:prstGeom>
          <a:noFill/>
          <a:ln/>
        </p:spPr>
        <p:txBody>
          <a:bodyPr wrap="square" lIns="102108" tIns="85090" rIns="102108" bIns="85090" rtlCol="0" anchor="ctr">
            <a:spAutoFit/>
          </a:bodyPr>
          <a:lstStyle/>
          <a:p>
            <a:pPr marL="0" indent="0" algn="l">
              <a:lnSpc>
                <a:spcPts val="1000"/>
              </a:lnSpc>
              <a:buNone/>
            </a:pPr>
            <a:r>
              <a:rPr lang="en-US" sz="1000" b="1" dirty="0">
                <a:solidFill>
                  <a:srgbClr val="2C3E50"/>
                </a:solidFill>
              </a:rPr>
              <a:t>6%</a:t>
            </a:r>
            <a:endParaRPr lang="en-US" sz="1000" dirty="0"/>
          </a:p>
        </p:txBody>
      </p:sp>
      <p:sp>
        <p:nvSpPr>
          <p:cNvPr id="31" name="Text 28"/>
          <p:cNvSpPr/>
          <p:nvPr/>
        </p:nvSpPr>
        <p:spPr>
          <a:xfrm>
            <a:off x="1768666" y="3752255"/>
            <a:ext cx="1356140" cy="128240"/>
          </a:xfrm>
          <a:prstGeom prst="rect">
            <a:avLst/>
          </a:prstGeom>
          <a:noFill/>
          <a:ln/>
        </p:spPr>
        <p:txBody>
          <a:bodyPr wrap="none" lIns="0" tIns="0" rIns="0" bIns="0" rtlCol="0" anchor="t">
            <a:spAutoFit/>
          </a:bodyPr>
          <a:lstStyle/>
          <a:p>
            <a:pPr marL="0" indent="0" algn="ctr">
              <a:lnSpc>
                <a:spcPts val="1000"/>
              </a:lnSpc>
              <a:buNone/>
            </a:pPr>
            <a:r>
              <a:rPr lang="en-US" sz="1000" b="1" dirty="0">
                <a:solidFill>
                  <a:srgbClr val="FF6B6B"/>
                </a:solidFill>
              </a:rPr>
              <a:t>94% attrition by 6th cycle</a:t>
            </a:r>
            <a:endParaRPr lang="en-US" sz="1000" dirty="0"/>
          </a:p>
        </p:txBody>
      </p:sp>
      <p:pic>
        <p:nvPicPr>
          <p:cNvPr id="32" name="Image 1" descr="preencoded.png"/>
          <p:cNvPicPr>
            <a:picLocks noChangeAspect="1"/>
          </p:cNvPicPr>
          <p:nvPr/>
        </p:nvPicPr>
        <p:blipFill>
          <a:blip r:embed="rId4"/>
          <a:stretch>
            <a:fillRect/>
          </a:stretch>
        </p:blipFill>
        <p:spPr>
          <a:xfrm>
            <a:off x="500063" y="4041577"/>
            <a:ext cx="3893344" cy="1071563"/>
          </a:xfrm>
          <a:prstGeom prst="rect">
            <a:avLst/>
          </a:prstGeom>
        </p:spPr>
      </p:pic>
      <p:sp>
        <p:nvSpPr>
          <p:cNvPr id="33" name="Text 29"/>
          <p:cNvSpPr/>
          <p:nvPr/>
        </p:nvSpPr>
        <p:spPr>
          <a:xfrm>
            <a:off x="4752498" y="1142595"/>
            <a:ext cx="1465145"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C3E50"/>
                </a:solidFill>
              </a:rPr>
              <a:t>Why Selection Bias Matters</a:t>
            </a:r>
            <a:endParaRPr lang="en-US" sz="1000" dirty="0"/>
          </a:p>
        </p:txBody>
      </p:sp>
      <p:sp>
        <p:nvSpPr>
          <p:cNvPr id="34" name="Text 30"/>
          <p:cNvSpPr/>
          <p:nvPr/>
        </p:nvSpPr>
        <p:spPr>
          <a:xfrm>
            <a:off x="4750594" y="1373303"/>
            <a:ext cx="3893344" cy="833562"/>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5A6C7D"/>
                </a:solidFill>
              </a:rPr>
              <a:t>Healthier patients with better prognoses tend to succeed early and exit the cohort. Those continuing to later cycles have, on average, more challenging fertility issues. This means the 4+ cycle population is not representative of the general IVF population—they are a selected group with worse baseline prognosis.</a:t>
            </a:r>
            <a:endParaRPr lang="en-US" sz="1000" dirty="0"/>
          </a:p>
        </p:txBody>
      </p:sp>
      <p:sp>
        <p:nvSpPr>
          <p:cNvPr id="35" name="Text 31"/>
          <p:cNvSpPr/>
          <p:nvPr/>
        </p:nvSpPr>
        <p:spPr>
          <a:xfrm>
            <a:off x="4750594" y="2234878"/>
            <a:ext cx="1150956"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C3E50"/>
                </a:solidFill>
              </a:rPr>
              <a:t>Statistical Implication</a:t>
            </a:r>
            <a:endParaRPr lang="en-US" sz="1000" dirty="0"/>
          </a:p>
        </p:txBody>
      </p:sp>
      <p:sp>
        <p:nvSpPr>
          <p:cNvPr id="36" name="Text 32"/>
          <p:cNvSpPr/>
          <p:nvPr/>
        </p:nvSpPr>
        <p:spPr>
          <a:xfrm>
            <a:off x="4750594" y="2475979"/>
            <a:ext cx="3893344" cy="666849"/>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5A6C7D"/>
                </a:solidFill>
              </a:rPr>
              <a:t>We cannot directly compare 1st cycle success rates to 4+ cycle success rates and conclude that "later cycles are less successful." The populations are fundamentally different. The apparent decline may reflect patient characteristics rather than cycle number effects.</a:t>
            </a:r>
            <a:endParaRPr lang="en-US" sz="1000" dirty="0"/>
          </a:p>
        </p:txBody>
      </p:sp>
      <p:sp>
        <p:nvSpPr>
          <p:cNvPr id="37" name="Text 33"/>
          <p:cNvSpPr/>
          <p:nvPr/>
        </p:nvSpPr>
        <p:spPr>
          <a:xfrm>
            <a:off x="4750594" y="3258889"/>
            <a:ext cx="1630254"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2C3E50"/>
                </a:solidFill>
              </a:rPr>
              <a:t>Continuation Rate Consistency</a:t>
            </a:r>
            <a:endParaRPr lang="en-US" sz="1000" dirty="0"/>
          </a:p>
        </p:txBody>
      </p:sp>
      <p:sp>
        <p:nvSpPr>
          <p:cNvPr id="38" name="Text 34"/>
          <p:cNvSpPr/>
          <p:nvPr/>
        </p:nvSpPr>
        <p:spPr>
          <a:xfrm>
            <a:off x="4750594" y="3499991"/>
            <a:ext cx="3893344" cy="500137"/>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5A6C7D"/>
                </a:solidFill>
              </a:rPr>
              <a:t>Interestingly, continuation rates remain stable at 56-59% across all cycle transitions, suggesting the selection mechanism operates consistently throughout the treatment journey.</a:t>
            </a:r>
            <a:endParaRPr lang="en-US" sz="1000" dirty="0"/>
          </a:p>
        </p:txBody>
      </p:sp>
      <p:sp>
        <p:nvSpPr>
          <p:cNvPr id="39" name="Shape 35"/>
          <p:cNvSpPr/>
          <p:nvPr/>
        </p:nvSpPr>
        <p:spPr>
          <a:xfrm>
            <a:off x="4750594" y="4122892"/>
            <a:ext cx="3893344" cy="1168841"/>
          </a:xfrm>
          <a:prstGeom prst="rect">
            <a:avLst/>
          </a:prstGeom>
          <a:solidFill>
            <a:srgbClr val="E8F0F9"/>
          </a:solidFill>
          <a:ln/>
        </p:spPr>
      </p:sp>
      <p:sp>
        <p:nvSpPr>
          <p:cNvPr id="40" name="Text 36"/>
          <p:cNvSpPr/>
          <p:nvPr/>
        </p:nvSpPr>
        <p:spPr>
          <a:xfrm>
            <a:off x="4893469" y="4251480"/>
            <a:ext cx="1134926" cy="128240"/>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2C5F8D"/>
                </a:solidFill>
              </a:rPr>
              <a:t>Analytical Conclusion</a:t>
            </a:r>
            <a:endParaRPr lang="en-US" sz="1000" dirty="0"/>
          </a:p>
        </p:txBody>
      </p:sp>
      <p:sp>
        <p:nvSpPr>
          <p:cNvPr id="41" name="Text 37"/>
          <p:cNvSpPr/>
          <p:nvPr/>
        </p:nvSpPr>
        <p:spPr>
          <a:xfrm>
            <a:off x="4893469" y="4469364"/>
            <a:ext cx="3607594" cy="666849"/>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2C3E50"/>
                </a:solidFill>
              </a:rPr>
              <a:t>The 4+ cycle data provides insights into persistent treatment seekers but is NOT generalizable to the broader IVF population. Policy decisions should be based primarily on cycles 1-3 where the cohort is more representative.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37038"/>
          </a:xfrm>
          <a:prstGeom prst="rect">
            <a:avLst/>
          </a:prstGeom>
        </p:spPr>
      </p:pic>
      <p:sp>
        <p:nvSpPr>
          <p:cNvPr id="3" name="Text 0"/>
          <p:cNvSpPr/>
          <p:nvPr/>
        </p:nvSpPr>
        <p:spPr>
          <a:xfrm>
            <a:off x="500063" y="428625"/>
            <a:ext cx="8302081" cy="307777"/>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Data Limitations and Methodological Constraints</a:t>
            </a:r>
            <a:endParaRPr lang="en-US" sz="3200" dirty="0"/>
          </a:p>
        </p:txBody>
      </p:sp>
      <p:sp>
        <p:nvSpPr>
          <p:cNvPr id="4" name="Text 1"/>
          <p:cNvSpPr/>
          <p:nvPr/>
        </p:nvSpPr>
        <p:spPr>
          <a:xfrm>
            <a:off x="500063" y="850106"/>
            <a:ext cx="6831998" cy="128240"/>
          </a:xfrm>
          <a:prstGeom prst="rect">
            <a:avLst/>
          </a:prstGeom>
          <a:noFill/>
          <a:ln/>
        </p:spPr>
        <p:txBody>
          <a:bodyPr wrap="none" lIns="0" tIns="0" rIns="0" bIns="0" rtlCol="0" anchor="t">
            <a:spAutoFit/>
          </a:bodyPr>
          <a:lstStyle/>
          <a:p>
            <a:pPr marL="0" indent="0" algn="l">
              <a:lnSpc>
                <a:spcPts val="1000"/>
              </a:lnSpc>
              <a:buNone/>
            </a:pPr>
            <a:r>
              <a:rPr lang="en-US" sz="1050" dirty="0">
                <a:solidFill>
                  <a:srgbClr val="5A6C7D"/>
                </a:solidFill>
              </a:rPr>
              <a:t>Transparency in Analysis: Understanding what our data can and cannot tell us is essential for sound policy recommendations.</a:t>
            </a:r>
            <a:endParaRPr lang="en-US" sz="1050" dirty="0"/>
          </a:p>
        </p:txBody>
      </p:sp>
      <p:sp>
        <p:nvSpPr>
          <p:cNvPr id="5" name="Shape 2"/>
          <p:cNvSpPr/>
          <p:nvPr/>
        </p:nvSpPr>
        <p:spPr>
          <a:xfrm>
            <a:off x="500063" y="1125141"/>
            <a:ext cx="4014788" cy="1200150"/>
          </a:xfrm>
          <a:prstGeom prst="rect">
            <a:avLst/>
          </a:prstGeom>
          <a:solidFill>
            <a:srgbClr val="FFFFFF"/>
          </a:solidFill>
          <a:ln/>
        </p:spPr>
      </p:sp>
      <p:sp>
        <p:nvSpPr>
          <p:cNvPr id="6" name="Text 3"/>
          <p:cNvSpPr/>
          <p:nvPr/>
        </p:nvSpPr>
        <p:spPr>
          <a:xfrm>
            <a:off x="614363" y="1182291"/>
            <a:ext cx="182742" cy="282129"/>
          </a:xfrm>
          <a:prstGeom prst="rect">
            <a:avLst/>
          </a:prstGeom>
          <a:noFill/>
          <a:ln/>
        </p:spPr>
        <p:txBody>
          <a:bodyPr wrap="none" lIns="0" tIns="0" rIns="0" bIns="0" rtlCol="0" anchor="t">
            <a:spAutoFit/>
          </a:bodyPr>
          <a:lstStyle/>
          <a:p>
            <a:pPr marL="0" indent="0" algn="l">
              <a:lnSpc>
                <a:spcPts val="2200"/>
              </a:lnSpc>
              <a:buNone/>
            </a:pPr>
            <a:r>
              <a:rPr lang="en-US" sz="2800" b="1" dirty="0">
                <a:solidFill>
                  <a:srgbClr val="14A098"/>
                </a:solidFill>
              </a:rPr>
              <a:t>1</a:t>
            </a:r>
            <a:endParaRPr lang="en-US" sz="2800" dirty="0"/>
          </a:p>
        </p:txBody>
      </p:sp>
      <p:sp>
        <p:nvSpPr>
          <p:cNvPr id="7" name="Text 4"/>
          <p:cNvSpPr/>
          <p:nvPr/>
        </p:nvSpPr>
        <p:spPr>
          <a:xfrm>
            <a:off x="614363" y="1566267"/>
            <a:ext cx="1343316"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No Funding Source Data</a:t>
            </a:r>
            <a:endParaRPr lang="en-US" sz="1050" dirty="0"/>
          </a:p>
        </p:txBody>
      </p:sp>
      <p:sp>
        <p:nvSpPr>
          <p:cNvPr id="8" name="Text 5"/>
          <p:cNvSpPr/>
          <p:nvPr/>
        </p:nvSpPr>
        <p:spPr>
          <a:xfrm>
            <a:off x="614363" y="1778794"/>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9" name="Text 6"/>
          <p:cNvSpPr/>
          <p:nvPr/>
        </p:nvSpPr>
        <p:spPr>
          <a:xfrm>
            <a:off x="721519" y="1784152"/>
            <a:ext cx="2976777"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Cannot identify NHS-funded vs privately-funded cycles</a:t>
            </a:r>
            <a:endParaRPr lang="en-US" sz="1050" dirty="0"/>
          </a:p>
        </p:txBody>
      </p:sp>
      <p:sp>
        <p:nvSpPr>
          <p:cNvPr id="10" name="Text 7"/>
          <p:cNvSpPr/>
          <p:nvPr/>
        </p:nvSpPr>
        <p:spPr>
          <a:xfrm>
            <a:off x="614363" y="1960959"/>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11" name="Text 8"/>
          <p:cNvSpPr/>
          <p:nvPr/>
        </p:nvSpPr>
        <p:spPr>
          <a:xfrm>
            <a:off x="721519" y="1966317"/>
            <a:ext cx="3173946"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Cannot assess compliance with 3-cycle NHS funding policy</a:t>
            </a:r>
            <a:endParaRPr lang="en-US" sz="1050" dirty="0"/>
          </a:p>
        </p:txBody>
      </p:sp>
      <p:sp>
        <p:nvSpPr>
          <p:cNvPr id="12" name="Text 9"/>
          <p:cNvSpPr/>
          <p:nvPr/>
        </p:nvSpPr>
        <p:spPr>
          <a:xfrm>
            <a:off x="614363" y="2143125"/>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13" name="Text 10"/>
          <p:cNvSpPr/>
          <p:nvPr/>
        </p:nvSpPr>
        <p:spPr>
          <a:xfrm>
            <a:off x="721519" y="2148483"/>
            <a:ext cx="3436838"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Cannot analyze whether funding affects continuation decisions</a:t>
            </a:r>
            <a:endParaRPr lang="en-US" sz="1050" dirty="0"/>
          </a:p>
        </p:txBody>
      </p:sp>
      <p:sp>
        <p:nvSpPr>
          <p:cNvPr id="14" name="Shape 11"/>
          <p:cNvSpPr/>
          <p:nvPr/>
        </p:nvSpPr>
        <p:spPr>
          <a:xfrm>
            <a:off x="4629150" y="1125141"/>
            <a:ext cx="4014788" cy="1200150"/>
          </a:xfrm>
          <a:prstGeom prst="rect">
            <a:avLst/>
          </a:prstGeom>
          <a:solidFill>
            <a:srgbClr val="FFFFFF"/>
          </a:solidFill>
          <a:ln/>
        </p:spPr>
      </p:sp>
      <p:sp>
        <p:nvSpPr>
          <p:cNvPr id="15" name="Text 12"/>
          <p:cNvSpPr/>
          <p:nvPr/>
        </p:nvSpPr>
        <p:spPr>
          <a:xfrm>
            <a:off x="4743450" y="1182291"/>
            <a:ext cx="182742" cy="282129"/>
          </a:xfrm>
          <a:prstGeom prst="rect">
            <a:avLst/>
          </a:prstGeom>
          <a:noFill/>
          <a:ln/>
        </p:spPr>
        <p:txBody>
          <a:bodyPr wrap="none" lIns="0" tIns="0" rIns="0" bIns="0" rtlCol="0" anchor="t">
            <a:spAutoFit/>
          </a:bodyPr>
          <a:lstStyle/>
          <a:p>
            <a:pPr marL="0" indent="0" algn="l">
              <a:lnSpc>
                <a:spcPts val="2200"/>
              </a:lnSpc>
              <a:buNone/>
            </a:pPr>
            <a:r>
              <a:rPr lang="en-US" sz="2800" b="1" dirty="0">
                <a:solidFill>
                  <a:srgbClr val="14A098"/>
                </a:solidFill>
              </a:rPr>
              <a:t>2</a:t>
            </a:r>
            <a:endParaRPr lang="en-US" sz="2800" dirty="0"/>
          </a:p>
        </p:txBody>
      </p:sp>
      <p:sp>
        <p:nvSpPr>
          <p:cNvPr id="16" name="Text 13"/>
          <p:cNvSpPr/>
          <p:nvPr/>
        </p:nvSpPr>
        <p:spPr>
          <a:xfrm>
            <a:off x="4743450" y="1566267"/>
            <a:ext cx="1752083"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Data is 7 Years Old (2017-2018)</a:t>
            </a:r>
            <a:endParaRPr lang="en-US" sz="1050" dirty="0"/>
          </a:p>
        </p:txBody>
      </p:sp>
      <p:sp>
        <p:nvSpPr>
          <p:cNvPr id="17" name="Text 14"/>
          <p:cNvSpPr/>
          <p:nvPr/>
        </p:nvSpPr>
        <p:spPr>
          <a:xfrm>
            <a:off x="4743450" y="1778794"/>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18" name="Text 15"/>
          <p:cNvSpPr/>
          <p:nvPr/>
        </p:nvSpPr>
        <p:spPr>
          <a:xfrm>
            <a:off x="4850606" y="1784152"/>
            <a:ext cx="2149627"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May not reflect current clinical practice</a:t>
            </a:r>
            <a:endParaRPr lang="en-US" sz="1050" dirty="0"/>
          </a:p>
        </p:txBody>
      </p:sp>
      <p:sp>
        <p:nvSpPr>
          <p:cNvPr id="19" name="Text 16"/>
          <p:cNvSpPr/>
          <p:nvPr/>
        </p:nvSpPr>
        <p:spPr>
          <a:xfrm>
            <a:off x="4743450" y="1960959"/>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20" name="Text 17"/>
          <p:cNvSpPr/>
          <p:nvPr/>
        </p:nvSpPr>
        <p:spPr>
          <a:xfrm>
            <a:off x="4850606" y="1966317"/>
            <a:ext cx="2747547"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HFEA reports frozen cycles increased 24% by 2023</a:t>
            </a:r>
            <a:endParaRPr lang="en-US" sz="1050" dirty="0"/>
          </a:p>
        </p:txBody>
      </p:sp>
      <p:sp>
        <p:nvSpPr>
          <p:cNvPr id="21" name="Text 18"/>
          <p:cNvSpPr/>
          <p:nvPr/>
        </p:nvSpPr>
        <p:spPr>
          <a:xfrm>
            <a:off x="4743450" y="2143125"/>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22" name="Text 19"/>
          <p:cNvSpPr/>
          <p:nvPr/>
        </p:nvSpPr>
        <p:spPr>
          <a:xfrm>
            <a:off x="4850606" y="2148483"/>
            <a:ext cx="2749151"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Treatment protocols and technology have evolved</a:t>
            </a:r>
            <a:endParaRPr lang="en-US" sz="1050" dirty="0"/>
          </a:p>
        </p:txBody>
      </p:sp>
      <p:sp>
        <p:nvSpPr>
          <p:cNvPr id="23" name="Shape 20"/>
          <p:cNvSpPr/>
          <p:nvPr/>
        </p:nvSpPr>
        <p:spPr>
          <a:xfrm>
            <a:off x="500063" y="2439591"/>
            <a:ext cx="4014788" cy="1382316"/>
          </a:xfrm>
          <a:prstGeom prst="rect">
            <a:avLst/>
          </a:prstGeom>
          <a:solidFill>
            <a:srgbClr val="FFFFFF"/>
          </a:solidFill>
          <a:ln/>
        </p:spPr>
      </p:sp>
      <p:sp>
        <p:nvSpPr>
          <p:cNvPr id="24" name="Text 21"/>
          <p:cNvSpPr/>
          <p:nvPr/>
        </p:nvSpPr>
        <p:spPr>
          <a:xfrm>
            <a:off x="614363" y="2496741"/>
            <a:ext cx="182742" cy="282129"/>
          </a:xfrm>
          <a:prstGeom prst="rect">
            <a:avLst/>
          </a:prstGeom>
          <a:noFill/>
          <a:ln/>
        </p:spPr>
        <p:txBody>
          <a:bodyPr wrap="none" lIns="0" tIns="0" rIns="0" bIns="0" rtlCol="0" anchor="t">
            <a:spAutoFit/>
          </a:bodyPr>
          <a:lstStyle/>
          <a:p>
            <a:pPr marL="0" indent="0" algn="l">
              <a:lnSpc>
                <a:spcPts val="2200"/>
              </a:lnSpc>
              <a:buNone/>
            </a:pPr>
            <a:r>
              <a:rPr lang="en-US" sz="2800" b="1" dirty="0">
                <a:solidFill>
                  <a:srgbClr val="14A098"/>
                </a:solidFill>
              </a:rPr>
              <a:t>3</a:t>
            </a:r>
            <a:endParaRPr lang="en-US" sz="2800" dirty="0"/>
          </a:p>
        </p:txBody>
      </p:sp>
      <p:sp>
        <p:nvSpPr>
          <p:cNvPr id="25" name="Text 22"/>
          <p:cNvSpPr/>
          <p:nvPr/>
        </p:nvSpPr>
        <p:spPr>
          <a:xfrm>
            <a:off x="614363" y="2880717"/>
            <a:ext cx="1659109"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Anonymised Data Constraints</a:t>
            </a:r>
            <a:endParaRPr lang="en-US" sz="1050" dirty="0"/>
          </a:p>
        </p:txBody>
      </p:sp>
      <p:sp>
        <p:nvSpPr>
          <p:cNvPr id="26" name="Text 23"/>
          <p:cNvSpPr/>
          <p:nvPr/>
        </p:nvSpPr>
        <p:spPr>
          <a:xfrm>
            <a:off x="614363" y="3093244"/>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27" name="Text 24"/>
          <p:cNvSpPr/>
          <p:nvPr/>
        </p:nvSpPr>
        <p:spPr>
          <a:xfrm>
            <a:off x="721519" y="3098602"/>
            <a:ext cx="2181687"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Cannot track individual patient journeys</a:t>
            </a:r>
            <a:endParaRPr lang="en-US" sz="1050" dirty="0"/>
          </a:p>
        </p:txBody>
      </p:sp>
      <p:sp>
        <p:nvSpPr>
          <p:cNvPr id="28" name="Text 25"/>
          <p:cNvSpPr/>
          <p:nvPr/>
        </p:nvSpPr>
        <p:spPr>
          <a:xfrm>
            <a:off x="614363" y="3275409"/>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29" name="Text 26"/>
          <p:cNvSpPr/>
          <p:nvPr/>
        </p:nvSpPr>
        <p:spPr>
          <a:xfrm>
            <a:off x="721519" y="3280767"/>
            <a:ext cx="2760371"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Age bands only (18-34, 35-37, etc.), not exact ages</a:t>
            </a:r>
            <a:endParaRPr lang="en-US" sz="1050" dirty="0"/>
          </a:p>
        </p:txBody>
      </p:sp>
      <p:sp>
        <p:nvSpPr>
          <p:cNvPr id="30" name="Text 27"/>
          <p:cNvSpPr/>
          <p:nvPr/>
        </p:nvSpPr>
        <p:spPr>
          <a:xfrm>
            <a:off x="614363" y="3457575"/>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31" name="Text 28"/>
          <p:cNvSpPr/>
          <p:nvPr/>
        </p:nvSpPr>
        <p:spPr>
          <a:xfrm>
            <a:off x="721519" y="3462933"/>
            <a:ext cx="2766783"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Cannot perform sophisticated longitudinal analysis</a:t>
            </a:r>
            <a:endParaRPr lang="en-US" sz="1050" dirty="0"/>
          </a:p>
        </p:txBody>
      </p:sp>
      <p:sp>
        <p:nvSpPr>
          <p:cNvPr id="32" name="Text 29"/>
          <p:cNvSpPr/>
          <p:nvPr/>
        </p:nvSpPr>
        <p:spPr>
          <a:xfrm>
            <a:off x="614363" y="3639741"/>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33" name="Text 30"/>
          <p:cNvSpPr/>
          <p:nvPr/>
        </p:nvSpPr>
        <p:spPr>
          <a:xfrm>
            <a:off x="721519" y="3645098"/>
            <a:ext cx="2907847"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Missing clinic-level factors and ovarian response data</a:t>
            </a:r>
            <a:endParaRPr lang="en-US" sz="1050" dirty="0"/>
          </a:p>
        </p:txBody>
      </p:sp>
      <p:sp>
        <p:nvSpPr>
          <p:cNvPr id="34" name="Shape 31"/>
          <p:cNvSpPr/>
          <p:nvPr/>
        </p:nvSpPr>
        <p:spPr>
          <a:xfrm>
            <a:off x="4629150" y="2439591"/>
            <a:ext cx="4014788" cy="1382316"/>
          </a:xfrm>
          <a:prstGeom prst="rect">
            <a:avLst/>
          </a:prstGeom>
          <a:solidFill>
            <a:srgbClr val="FFFFFF"/>
          </a:solidFill>
          <a:ln/>
        </p:spPr>
      </p:sp>
      <p:sp>
        <p:nvSpPr>
          <p:cNvPr id="35" name="Text 32"/>
          <p:cNvSpPr/>
          <p:nvPr/>
        </p:nvSpPr>
        <p:spPr>
          <a:xfrm>
            <a:off x="4743450" y="2496741"/>
            <a:ext cx="182742" cy="282129"/>
          </a:xfrm>
          <a:prstGeom prst="rect">
            <a:avLst/>
          </a:prstGeom>
          <a:noFill/>
          <a:ln/>
        </p:spPr>
        <p:txBody>
          <a:bodyPr wrap="none" lIns="0" tIns="0" rIns="0" bIns="0" rtlCol="0" anchor="t">
            <a:spAutoFit/>
          </a:bodyPr>
          <a:lstStyle/>
          <a:p>
            <a:pPr marL="0" indent="0" algn="l">
              <a:lnSpc>
                <a:spcPts val="2200"/>
              </a:lnSpc>
              <a:buNone/>
            </a:pPr>
            <a:r>
              <a:rPr lang="en-US" sz="2800" b="1" dirty="0">
                <a:solidFill>
                  <a:srgbClr val="14A098"/>
                </a:solidFill>
              </a:rPr>
              <a:t>4</a:t>
            </a:r>
            <a:endParaRPr lang="en-US" sz="2800" dirty="0"/>
          </a:p>
        </p:txBody>
      </p:sp>
      <p:sp>
        <p:nvSpPr>
          <p:cNvPr id="36" name="Text 33"/>
          <p:cNvSpPr/>
          <p:nvPr/>
        </p:nvSpPr>
        <p:spPr>
          <a:xfrm>
            <a:off x="4743450" y="2880717"/>
            <a:ext cx="2370842"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Cycles Are NOT Independent Observations</a:t>
            </a:r>
            <a:endParaRPr lang="en-US" sz="1050" dirty="0"/>
          </a:p>
        </p:txBody>
      </p:sp>
      <p:sp>
        <p:nvSpPr>
          <p:cNvPr id="37" name="Text 34"/>
          <p:cNvSpPr/>
          <p:nvPr/>
        </p:nvSpPr>
        <p:spPr>
          <a:xfrm>
            <a:off x="4743450" y="3093244"/>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38" name="Text 35"/>
          <p:cNvSpPr/>
          <p:nvPr/>
        </p:nvSpPr>
        <p:spPr>
          <a:xfrm>
            <a:off x="4850606" y="3098602"/>
            <a:ext cx="3010440"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Treatment adjusted between cycles based on response</a:t>
            </a:r>
            <a:endParaRPr lang="en-US" sz="1050" dirty="0"/>
          </a:p>
        </p:txBody>
      </p:sp>
      <p:sp>
        <p:nvSpPr>
          <p:cNvPr id="39" name="Text 36"/>
          <p:cNvSpPr/>
          <p:nvPr/>
        </p:nvSpPr>
        <p:spPr>
          <a:xfrm>
            <a:off x="4743450" y="3275409"/>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40" name="Text 37"/>
          <p:cNvSpPr/>
          <p:nvPr/>
        </p:nvSpPr>
        <p:spPr>
          <a:xfrm>
            <a:off x="4850606" y="3280767"/>
            <a:ext cx="3191579"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Clinicians modify protocols for patients who don't succeed</a:t>
            </a:r>
            <a:endParaRPr lang="en-US" sz="1050" dirty="0"/>
          </a:p>
        </p:txBody>
      </p:sp>
      <p:sp>
        <p:nvSpPr>
          <p:cNvPr id="41" name="Text 38"/>
          <p:cNvSpPr/>
          <p:nvPr/>
        </p:nvSpPr>
        <p:spPr>
          <a:xfrm>
            <a:off x="4743450" y="3457575"/>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42" name="Text 39"/>
          <p:cNvSpPr/>
          <p:nvPr/>
        </p:nvSpPr>
        <p:spPr>
          <a:xfrm>
            <a:off x="4850606" y="3462933"/>
            <a:ext cx="3178755"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Cannot treat as simple comparison of independent groups</a:t>
            </a:r>
            <a:endParaRPr lang="en-US" sz="1050" dirty="0"/>
          </a:p>
        </p:txBody>
      </p:sp>
      <p:sp>
        <p:nvSpPr>
          <p:cNvPr id="43" name="Text 40"/>
          <p:cNvSpPr/>
          <p:nvPr/>
        </p:nvSpPr>
        <p:spPr>
          <a:xfrm>
            <a:off x="4743450" y="3639741"/>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44" name="Text 41"/>
          <p:cNvSpPr/>
          <p:nvPr/>
        </p:nvSpPr>
        <p:spPr>
          <a:xfrm>
            <a:off x="4850606" y="3645098"/>
            <a:ext cx="3114635"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Requires complex statistical methods to properly analyze</a:t>
            </a:r>
            <a:endParaRPr lang="en-US" sz="1050" dirty="0"/>
          </a:p>
        </p:txBody>
      </p:sp>
      <p:sp>
        <p:nvSpPr>
          <p:cNvPr id="45" name="Shape 42"/>
          <p:cNvSpPr/>
          <p:nvPr/>
        </p:nvSpPr>
        <p:spPr>
          <a:xfrm>
            <a:off x="500063" y="4036219"/>
            <a:ext cx="4000500" cy="1200820"/>
          </a:xfrm>
          <a:prstGeom prst="rect">
            <a:avLst/>
          </a:prstGeom>
          <a:solidFill>
            <a:srgbClr val="E8F9F7"/>
          </a:solidFill>
          <a:ln/>
        </p:spPr>
      </p:sp>
      <p:sp>
        <p:nvSpPr>
          <p:cNvPr id="46" name="Text 43"/>
          <p:cNvSpPr/>
          <p:nvPr/>
        </p:nvSpPr>
        <p:spPr>
          <a:xfrm>
            <a:off x="614363" y="4107656"/>
            <a:ext cx="2577629"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0D7377"/>
                </a:solidFill>
              </a:rPr>
              <a:t>What We CAN Conclude Despite Limitations</a:t>
            </a:r>
            <a:endParaRPr lang="en-US" sz="1100" dirty="0"/>
          </a:p>
        </p:txBody>
      </p:sp>
      <p:sp>
        <p:nvSpPr>
          <p:cNvPr id="47" name="Text 44"/>
          <p:cNvSpPr/>
          <p:nvPr/>
        </p:nvSpPr>
        <p:spPr>
          <a:xfrm>
            <a:off x="614363" y="4368403"/>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8" name="Text 45"/>
          <p:cNvSpPr/>
          <p:nvPr/>
        </p:nvSpPr>
        <p:spPr>
          <a:xfrm>
            <a:off x="742950" y="4379119"/>
            <a:ext cx="3521798"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General patterns across cycles (with caveats about confounders)</a:t>
            </a:r>
            <a:endParaRPr lang="en-US" sz="1050" dirty="0"/>
          </a:p>
        </p:txBody>
      </p:sp>
      <p:sp>
        <p:nvSpPr>
          <p:cNvPr id="49" name="Text 46"/>
          <p:cNvSpPr/>
          <p:nvPr/>
        </p:nvSpPr>
        <p:spPr>
          <a:xfrm>
            <a:off x="614363" y="4585562"/>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50" name="Text 47"/>
          <p:cNvSpPr/>
          <p:nvPr/>
        </p:nvSpPr>
        <p:spPr>
          <a:xfrm>
            <a:off x="742950" y="4596278"/>
            <a:ext cx="3416000"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Identification of safety concerns (multiple births, eSET decline)</a:t>
            </a:r>
            <a:endParaRPr lang="en-US" sz="1050" dirty="0"/>
          </a:p>
        </p:txBody>
      </p:sp>
      <p:sp>
        <p:nvSpPr>
          <p:cNvPr id="51" name="Text 48"/>
          <p:cNvSpPr/>
          <p:nvPr/>
        </p:nvSpPr>
        <p:spPr>
          <a:xfrm>
            <a:off x="614363" y="4802721"/>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52" name="Text 49"/>
          <p:cNvSpPr/>
          <p:nvPr/>
        </p:nvSpPr>
        <p:spPr>
          <a:xfrm>
            <a:off x="742950" y="4813436"/>
            <a:ext cx="3428824"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Population characteristics (age, donor usage, fresh/frozen mix)</a:t>
            </a:r>
            <a:endParaRPr lang="en-US" sz="1050" dirty="0"/>
          </a:p>
        </p:txBody>
      </p:sp>
      <p:sp>
        <p:nvSpPr>
          <p:cNvPr id="53" name="Text 50"/>
          <p:cNvSpPr/>
          <p:nvPr/>
        </p:nvSpPr>
        <p:spPr>
          <a:xfrm>
            <a:off x="614363" y="501988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54" name="Text 51"/>
          <p:cNvSpPr/>
          <p:nvPr/>
        </p:nvSpPr>
        <p:spPr>
          <a:xfrm>
            <a:off x="742950" y="5030595"/>
            <a:ext cx="3521798"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Support for current 3-cycle policy threshold (85% exit by cycle 3)</a:t>
            </a:r>
            <a:endParaRPr lang="en-US" sz="1050" dirty="0"/>
          </a:p>
        </p:txBody>
      </p:sp>
      <p:sp>
        <p:nvSpPr>
          <p:cNvPr id="55" name="Shape 52"/>
          <p:cNvSpPr/>
          <p:nvPr/>
        </p:nvSpPr>
        <p:spPr>
          <a:xfrm>
            <a:off x="4643438" y="4036219"/>
            <a:ext cx="4000500" cy="1200820"/>
          </a:xfrm>
          <a:prstGeom prst="rect">
            <a:avLst/>
          </a:prstGeom>
          <a:solidFill>
            <a:srgbClr val="FFF0F0"/>
          </a:solidFill>
          <a:ln/>
        </p:spPr>
      </p:sp>
      <p:sp>
        <p:nvSpPr>
          <p:cNvPr id="56" name="Text 53"/>
          <p:cNvSpPr/>
          <p:nvPr/>
        </p:nvSpPr>
        <p:spPr>
          <a:xfrm>
            <a:off x="4757738" y="4107656"/>
            <a:ext cx="1671933"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D63031"/>
                </a:solidFill>
              </a:rPr>
              <a:t>What We CANNOT Conclude</a:t>
            </a:r>
            <a:endParaRPr lang="en-US" sz="1100" dirty="0"/>
          </a:p>
        </p:txBody>
      </p:sp>
      <p:sp>
        <p:nvSpPr>
          <p:cNvPr id="57" name="Text 54"/>
          <p:cNvSpPr/>
          <p:nvPr/>
        </p:nvSpPr>
        <p:spPr>
          <a:xfrm>
            <a:off x="4757738" y="4368403"/>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FF6B6B"/>
                </a:solidFill>
              </a:rPr>
              <a:t>•</a:t>
            </a:r>
            <a:endParaRPr lang="en-US" sz="1050" dirty="0"/>
          </a:p>
        </p:txBody>
      </p:sp>
      <p:sp>
        <p:nvSpPr>
          <p:cNvPr id="58" name="Text 55"/>
          <p:cNvSpPr/>
          <p:nvPr/>
        </p:nvSpPr>
        <p:spPr>
          <a:xfrm>
            <a:off x="4886325" y="4379119"/>
            <a:ext cx="2636940"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Precise causal effect of cycle number on success</a:t>
            </a:r>
            <a:endParaRPr lang="en-US" sz="1050" dirty="0"/>
          </a:p>
        </p:txBody>
      </p:sp>
      <p:sp>
        <p:nvSpPr>
          <p:cNvPr id="59" name="Text 56"/>
          <p:cNvSpPr/>
          <p:nvPr/>
        </p:nvSpPr>
        <p:spPr>
          <a:xfrm>
            <a:off x="4757738" y="4585562"/>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FF6B6B"/>
                </a:solidFill>
              </a:rPr>
              <a:t>•</a:t>
            </a:r>
            <a:endParaRPr lang="en-US" sz="1050" dirty="0"/>
          </a:p>
        </p:txBody>
      </p:sp>
      <p:sp>
        <p:nvSpPr>
          <p:cNvPr id="60" name="Text 57"/>
          <p:cNvSpPr/>
          <p:nvPr/>
        </p:nvSpPr>
        <p:spPr>
          <a:xfrm>
            <a:off x="4886325" y="4596278"/>
            <a:ext cx="2345194"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Individual patient prognosis for later cycles</a:t>
            </a:r>
            <a:endParaRPr lang="en-US" sz="1050" dirty="0"/>
          </a:p>
        </p:txBody>
      </p:sp>
      <p:sp>
        <p:nvSpPr>
          <p:cNvPr id="61" name="Text 58"/>
          <p:cNvSpPr/>
          <p:nvPr/>
        </p:nvSpPr>
        <p:spPr>
          <a:xfrm>
            <a:off x="4757738" y="4802721"/>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FF6B6B"/>
                </a:solidFill>
              </a:rPr>
              <a:t>•</a:t>
            </a:r>
            <a:endParaRPr lang="en-US" sz="1050" dirty="0"/>
          </a:p>
        </p:txBody>
      </p:sp>
      <p:sp>
        <p:nvSpPr>
          <p:cNvPr id="62" name="Text 59"/>
          <p:cNvSpPr/>
          <p:nvPr/>
        </p:nvSpPr>
        <p:spPr>
          <a:xfrm>
            <a:off x="4886325" y="4813436"/>
            <a:ext cx="1282402"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Policy compliance rates</a:t>
            </a:r>
            <a:endParaRPr lang="en-US" sz="1050" dirty="0"/>
          </a:p>
        </p:txBody>
      </p:sp>
      <p:sp>
        <p:nvSpPr>
          <p:cNvPr id="63" name="Text 60"/>
          <p:cNvSpPr/>
          <p:nvPr/>
        </p:nvSpPr>
        <p:spPr>
          <a:xfrm>
            <a:off x="4757738" y="501988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FF6B6B"/>
                </a:solidFill>
              </a:rPr>
              <a:t>•</a:t>
            </a:r>
            <a:endParaRPr lang="en-US" sz="1050" dirty="0"/>
          </a:p>
        </p:txBody>
      </p:sp>
      <p:sp>
        <p:nvSpPr>
          <p:cNvPr id="64" name="Text 61"/>
          <p:cNvSpPr/>
          <p:nvPr/>
        </p:nvSpPr>
        <p:spPr>
          <a:xfrm>
            <a:off x="4886325" y="5030595"/>
            <a:ext cx="3068148"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2C3E50"/>
                </a:solidFill>
              </a:rPr>
              <a:t>Cost-effectiveness of extending funding beyond 3 cycles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28625"/>
            <a:ext cx="6607771" cy="307777"/>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Key Considerations for NICE Guidelines</a:t>
            </a:r>
            <a:endParaRPr lang="en-US" sz="3200" dirty="0"/>
          </a:p>
        </p:txBody>
      </p:sp>
      <p:sp>
        <p:nvSpPr>
          <p:cNvPr id="4" name="Text 1"/>
          <p:cNvSpPr/>
          <p:nvPr/>
        </p:nvSpPr>
        <p:spPr>
          <a:xfrm>
            <a:off x="500063" y="885825"/>
            <a:ext cx="6897722" cy="128240"/>
          </a:xfrm>
          <a:prstGeom prst="rect">
            <a:avLst/>
          </a:prstGeom>
          <a:noFill/>
          <a:ln/>
        </p:spPr>
        <p:txBody>
          <a:bodyPr wrap="none" lIns="0" tIns="0" rIns="0" bIns="0" rtlCol="0" anchor="t">
            <a:spAutoFit/>
          </a:bodyPr>
          <a:lstStyle/>
          <a:p>
            <a:pPr marL="0" indent="0" algn="l">
              <a:lnSpc>
                <a:spcPts val="1000"/>
              </a:lnSpc>
              <a:buNone/>
            </a:pPr>
            <a:r>
              <a:rPr lang="en-US" sz="1050" b="1" dirty="0">
                <a:solidFill>
                  <a:srgbClr val="5A6C7D"/>
                </a:solidFill>
              </a:rPr>
              <a:t>Policy Question: Does the evidence support the current NICE recommendation of 3 funded IVF cycles for patients under 40?</a:t>
            </a:r>
            <a:endParaRPr lang="en-US" sz="1050" dirty="0"/>
          </a:p>
        </p:txBody>
      </p:sp>
      <p:sp>
        <p:nvSpPr>
          <p:cNvPr id="5" name="Shape 2"/>
          <p:cNvSpPr/>
          <p:nvPr/>
        </p:nvSpPr>
        <p:spPr>
          <a:xfrm>
            <a:off x="500063" y="1175147"/>
            <a:ext cx="3986213" cy="3559987"/>
          </a:xfrm>
          <a:prstGeom prst="rect">
            <a:avLst/>
          </a:prstGeom>
          <a:solidFill>
            <a:srgbClr val="E8F9F7"/>
          </a:solidFill>
          <a:ln/>
        </p:spPr>
      </p:sp>
      <p:sp>
        <p:nvSpPr>
          <p:cNvPr id="6" name="Text 3"/>
          <p:cNvSpPr/>
          <p:nvPr/>
        </p:nvSpPr>
        <p:spPr>
          <a:xfrm>
            <a:off x="642938" y="1275159"/>
            <a:ext cx="3639330" cy="192360"/>
          </a:xfrm>
          <a:prstGeom prst="rect">
            <a:avLst/>
          </a:prstGeom>
          <a:noFill/>
          <a:ln/>
        </p:spPr>
        <p:txBody>
          <a:bodyPr wrap="none" lIns="0" tIns="0" rIns="0" bIns="0" rtlCol="0" anchor="t">
            <a:spAutoFit/>
          </a:bodyPr>
          <a:lstStyle/>
          <a:p>
            <a:pPr marL="0" indent="0" algn="l">
              <a:lnSpc>
                <a:spcPts val="1500"/>
              </a:lnSpc>
              <a:buNone/>
            </a:pPr>
            <a:r>
              <a:rPr lang="en-US" sz="1600" b="1" dirty="0">
                <a:solidFill>
                  <a:srgbClr val="0D7377"/>
                </a:solidFill>
              </a:rPr>
              <a:t>Evidence Supporting Current 3-Cycle Policy</a:t>
            </a:r>
            <a:endParaRPr lang="en-US" sz="1600" dirty="0"/>
          </a:p>
        </p:txBody>
      </p:sp>
      <p:sp>
        <p:nvSpPr>
          <p:cNvPr id="7" name="Text 4"/>
          <p:cNvSpPr/>
          <p:nvPr/>
        </p:nvSpPr>
        <p:spPr>
          <a:xfrm>
            <a:off x="642938" y="1575197"/>
            <a:ext cx="72136"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4A098"/>
                </a:solidFill>
              </a:rPr>
              <a:t>1</a:t>
            </a:r>
            <a:endParaRPr lang="en-US" sz="1100" dirty="0"/>
          </a:p>
        </p:txBody>
      </p:sp>
      <p:sp>
        <p:nvSpPr>
          <p:cNvPr id="8" name="Text 5"/>
          <p:cNvSpPr/>
          <p:nvPr/>
        </p:nvSpPr>
        <p:spPr>
          <a:xfrm>
            <a:off x="642938" y="1793081"/>
            <a:ext cx="1989327"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Diminishing Returns After 3rd Cycle</a:t>
            </a:r>
            <a:endParaRPr lang="en-US" sz="1050" dirty="0"/>
          </a:p>
        </p:txBody>
      </p:sp>
      <p:sp>
        <p:nvSpPr>
          <p:cNvPr id="9" name="Text 6"/>
          <p:cNvSpPr/>
          <p:nvPr/>
        </p:nvSpPr>
        <p:spPr>
          <a:xfrm>
            <a:off x="642938" y="2005608"/>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10" name="Text 7"/>
          <p:cNvSpPr/>
          <p:nvPr/>
        </p:nvSpPr>
        <p:spPr>
          <a:xfrm>
            <a:off x="771525" y="2016323"/>
            <a:ext cx="3215624"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Success rates remain reasonable through 3rd cycle (25.7%)</a:t>
            </a:r>
            <a:endParaRPr lang="en-US" sz="1050" dirty="0"/>
          </a:p>
        </p:txBody>
      </p:sp>
      <p:sp>
        <p:nvSpPr>
          <p:cNvPr id="11" name="Text 8"/>
          <p:cNvSpPr/>
          <p:nvPr/>
        </p:nvSpPr>
        <p:spPr>
          <a:xfrm>
            <a:off x="642938" y="2194192"/>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12" name="Text 9"/>
          <p:cNvSpPr/>
          <p:nvPr/>
        </p:nvSpPr>
        <p:spPr>
          <a:xfrm>
            <a:off x="771525" y="2204907"/>
            <a:ext cx="4140557"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Published cumulative data shows 61% success after 3 cycles for women &lt;35</a:t>
            </a:r>
            <a:endParaRPr lang="en-US" sz="1050" dirty="0"/>
          </a:p>
        </p:txBody>
      </p:sp>
      <p:sp>
        <p:nvSpPr>
          <p:cNvPr id="13" name="Text 10"/>
          <p:cNvSpPr/>
          <p:nvPr/>
        </p:nvSpPr>
        <p:spPr>
          <a:xfrm>
            <a:off x="642938" y="2382775"/>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14" name="Text 11"/>
          <p:cNvSpPr/>
          <p:nvPr/>
        </p:nvSpPr>
        <p:spPr>
          <a:xfrm>
            <a:off x="771525" y="2393491"/>
            <a:ext cx="2148024"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85% of patients exit by end of 3rd cycle</a:t>
            </a:r>
            <a:endParaRPr lang="en-US" sz="1050" dirty="0"/>
          </a:p>
        </p:txBody>
      </p:sp>
      <p:sp>
        <p:nvSpPr>
          <p:cNvPr id="15" name="Text 12"/>
          <p:cNvSpPr/>
          <p:nvPr/>
        </p:nvSpPr>
        <p:spPr>
          <a:xfrm>
            <a:off x="642938" y="2628509"/>
            <a:ext cx="72136"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4A098"/>
                </a:solidFill>
              </a:rPr>
              <a:t>2</a:t>
            </a:r>
            <a:endParaRPr lang="en-US" sz="1100" dirty="0"/>
          </a:p>
        </p:txBody>
      </p:sp>
      <p:sp>
        <p:nvSpPr>
          <p:cNvPr id="16" name="Text 13"/>
          <p:cNvSpPr/>
          <p:nvPr/>
        </p:nvSpPr>
        <p:spPr>
          <a:xfrm>
            <a:off x="642938" y="2846394"/>
            <a:ext cx="3047309"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Increasing Complexity and Confounders in Later Cycles</a:t>
            </a:r>
            <a:endParaRPr lang="en-US" sz="1050" dirty="0"/>
          </a:p>
        </p:txBody>
      </p:sp>
      <p:sp>
        <p:nvSpPr>
          <p:cNvPr id="17" name="Text 14"/>
          <p:cNvSpPr/>
          <p:nvPr/>
        </p:nvSpPr>
        <p:spPr>
          <a:xfrm>
            <a:off x="642938" y="305892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18" name="Text 15"/>
          <p:cNvSpPr/>
          <p:nvPr/>
        </p:nvSpPr>
        <p:spPr>
          <a:xfrm>
            <a:off x="771525" y="3069636"/>
            <a:ext cx="2107949"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Patient age increases 11% by 4+ cycles</a:t>
            </a:r>
            <a:endParaRPr lang="en-US" sz="1050" dirty="0"/>
          </a:p>
        </p:txBody>
      </p:sp>
      <p:sp>
        <p:nvSpPr>
          <p:cNvPr id="19" name="Text 16"/>
          <p:cNvSpPr/>
          <p:nvPr/>
        </p:nvSpPr>
        <p:spPr>
          <a:xfrm>
            <a:off x="642938" y="3247504"/>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20" name="Text 17"/>
          <p:cNvSpPr/>
          <p:nvPr/>
        </p:nvSpPr>
        <p:spPr>
          <a:xfrm>
            <a:off x="771525" y="3258220"/>
            <a:ext cx="3762248"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Treatment composition shifts dramatically (85% fresh → 51% frozen)</a:t>
            </a:r>
            <a:endParaRPr lang="en-US" sz="1050" dirty="0"/>
          </a:p>
        </p:txBody>
      </p:sp>
      <p:sp>
        <p:nvSpPr>
          <p:cNvPr id="21" name="Text 18"/>
          <p:cNvSpPr/>
          <p:nvPr/>
        </p:nvSpPr>
        <p:spPr>
          <a:xfrm>
            <a:off x="642938" y="3436088"/>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22" name="Text 19"/>
          <p:cNvSpPr/>
          <p:nvPr/>
        </p:nvSpPr>
        <p:spPr>
          <a:xfrm>
            <a:off x="771525" y="3446804"/>
            <a:ext cx="3286156"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Selection bias means 4+ cycle population not representative</a:t>
            </a:r>
            <a:endParaRPr lang="en-US" sz="1050" dirty="0"/>
          </a:p>
        </p:txBody>
      </p:sp>
      <p:sp>
        <p:nvSpPr>
          <p:cNvPr id="23" name="Text 20"/>
          <p:cNvSpPr/>
          <p:nvPr/>
        </p:nvSpPr>
        <p:spPr>
          <a:xfrm>
            <a:off x="642938" y="3681822"/>
            <a:ext cx="72136"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4A098"/>
                </a:solidFill>
              </a:rPr>
              <a:t>3</a:t>
            </a:r>
            <a:endParaRPr lang="en-US" sz="1100" dirty="0"/>
          </a:p>
        </p:txBody>
      </p:sp>
      <p:sp>
        <p:nvSpPr>
          <p:cNvPr id="24" name="Text 21"/>
          <p:cNvSpPr/>
          <p:nvPr/>
        </p:nvSpPr>
        <p:spPr>
          <a:xfrm>
            <a:off x="642938" y="3899706"/>
            <a:ext cx="2175275"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Safety Concerns Emerge in Later Cycles</a:t>
            </a:r>
            <a:endParaRPr lang="en-US" sz="1050" dirty="0"/>
          </a:p>
        </p:txBody>
      </p:sp>
      <p:sp>
        <p:nvSpPr>
          <p:cNvPr id="25" name="Text 22"/>
          <p:cNvSpPr/>
          <p:nvPr/>
        </p:nvSpPr>
        <p:spPr>
          <a:xfrm>
            <a:off x="642938" y="4112233"/>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26" name="Text 23"/>
          <p:cNvSpPr/>
          <p:nvPr/>
        </p:nvSpPr>
        <p:spPr>
          <a:xfrm>
            <a:off x="771525" y="4122948"/>
            <a:ext cx="2335576"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Multiple birth risk doubles (6.7% → 13.4%)</a:t>
            </a:r>
            <a:endParaRPr lang="en-US" sz="1050" dirty="0"/>
          </a:p>
        </p:txBody>
      </p:sp>
      <p:sp>
        <p:nvSpPr>
          <p:cNvPr id="27" name="Text 24"/>
          <p:cNvSpPr/>
          <p:nvPr/>
        </p:nvSpPr>
        <p:spPr>
          <a:xfrm>
            <a:off x="642938" y="4300817"/>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28" name="Text 25"/>
          <p:cNvSpPr/>
          <p:nvPr/>
        </p:nvSpPr>
        <p:spPr>
          <a:xfrm>
            <a:off x="771525" y="4311532"/>
            <a:ext cx="1918795"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eSET usage drops (35.8% → 26.1%)</a:t>
            </a:r>
            <a:endParaRPr lang="en-US" sz="1050" dirty="0"/>
          </a:p>
        </p:txBody>
      </p:sp>
      <p:sp>
        <p:nvSpPr>
          <p:cNvPr id="29" name="Text 26"/>
          <p:cNvSpPr/>
          <p:nvPr/>
        </p:nvSpPr>
        <p:spPr>
          <a:xfrm>
            <a:off x="642938" y="448940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30" name="Text 27"/>
          <p:cNvSpPr/>
          <p:nvPr/>
        </p:nvSpPr>
        <p:spPr>
          <a:xfrm>
            <a:off x="771525" y="4500116"/>
            <a:ext cx="2625719"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Increased pressure for multiple embryo transfer</a:t>
            </a:r>
            <a:endParaRPr lang="en-US" sz="1050" dirty="0"/>
          </a:p>
        </p:txBody>
      </p:sp>
      <p:sp>
        <p:nvSpPr>
          <p:cNvPr id="31" name="Shape 28"/>
          <p:cNvSpPr/>
          <p:nvPr/>
        </p:nvSpPr>
        <p:spPr>
          <a:xfrm>
            <a:off x="4657725" y="1175147"/>
            <a:ext cx="3986213" cy="3559987"/>
          </a:xfrm>
          <a:prstGeom prst="rect">
            <a:avLst/>
          </a:prstGeom>
          <a:solidFill>
            <a:srgbClr val="FFF9E6"/>
          </a:solidFill>
          <a:ln/>
        </p:spPr>
      </p:sp>
      <p:sp>
        <p:nvSpPr>
          <p:cNvPr id="32" name="Text 29"/>
          <p:cNvSpPr/>
          <p:nvPr/>
        </p:nvSpPr>
        <p:spPr>
          <a:xfrm>
            <a:off x="4800600" y="1275159"/>
            <a:ext cx="2746586" cy="192360"/>
          </a:xfrm>
          <a:prstGeom prst="rect">
            <a:avLst/>
          </a:prstGeom>
          <a:noFill/>
          <a:ln/>
        </p:spPr>
        <p:txBody>
          <a:bodyPr wrap="none" lIns="0" tIns="0" rIns="0" bIns="0" rtlCol="0" anchor="t">
            <a:spAutoFit/>
          </a:bodyPr>
          <a:lstStyle/>
          <a:p>
            <a:pPr marL="0" indent="0" algn="l">
              <a:lnSpc>
                <a:spcPts val="1500"/>
              </a:lnSpc>
              <a:buNone/>
            </a:pPr>
            <a:r>
              <a:rPr lang="en-US" sz="1600" b="1" dirty="0">
                <a:solidFill>
                  <a:srgbClr val="B8860B"/>
                </a:solidFill>
              </a:rPr>
              <a:t>Areas Requiring Policy Attention</a:t>
            </a:r>
            <a:endParaRPr lang="en-US" sz="1600" dirty="0"/>
          </a:p>
        </p:txBody>
      </p:sp>
      <p:sp>
        <p:nvSpPr>
          <p:cNvPr id="33" name="Text 30"/>
          <p:cNvSpPr/>
          <p:nvPr/>
        </p:nvSpPr>
        <p:spPr>
          <a:xfrm>
            <a:off x="4800600" y="1575197"/>
            <a:ext cx="72136"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4A098"/>
                </a:solidFill>
              </a:rPr>
              <a:t>1</a:t>
            </a:r>
            <a:endParaRPr lang="en-US" sz="1100" dirty="0"/>
          </a:p>
        </p:txBody>
      </p:sp>
      <p:sp>
        <p:nvSpPr>
          <p:cNvPr id="34" name="Text 31"/>
          <p:cNvSpPr/>
          <p:nvPr/>
        </p:nvSpPr>
        <p:spPr>
          <a:xfrm>
            <a:off x="4800600" y="1793081"/>
            <a:ext cx="1817805"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Multiple Birth Risk Management</a:t>
            </a:r>
            <a:endParaRPr lang="en-US" sz="1050" dirty="0"/>
          </a:p>
        </p:txBody>
      </p:sp>
      <p:sp>
        <p:nvSpPr>
          <p:cNvPr id="35" name="Text 32"/>
          <p:cNvSpPr/>
          <p:nvPr/>
        </p:nvSpPr>
        <p:spPr>
          <a:xfrm>
            <a:off x="4800600" y="2005608"/>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36" name="Text 33"/>
          <p:cNvSpPr/>
          <p:nvPr/>
        </p:nvSpPr>
        <p:spPr>
          <a:xfrm>
            <a:off x="4929188" y="2016323"/>
            <a:ext cx="2911053"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Strengthen eSET incentives, especially for later cycles</a:t>
            </a:r>
            <a:endParaRPr lang="en-US" sz="1050" dirty="0"/>
          </a:p>
        </p:txBody>
      </p:sp>
      <p:sp>
        <p:nvSpPr>
          <p:cNvPr id="37" name="Text 34"/>
          <p:cNvSpPr/>
          <p:nvPr/>
        </p:nvSpPr>
        <p:spPr>
          <a:xfrm>
            <a:off x="4800600" y="2194192"/>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38" name="Text 35"/>
          <p:cNvSpPr/>
          <p:nvPr/>
        </p:nvSpPr>
        <p:spPr>
          <a:xfrm>
            <a:off x="4929188" y="2204907"/>
            <a:ext cx="3132268"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Consider policy mechanisms to maintain safety standards</a:t>
            </a:r>
            <a:endParaRPr lang="en-US" sz="1050" dirty="0"/>
          </a:p>
        </p:txBody>
      </p:sp>
      <p:sp>
        <p:nvSpPr>
          <p:cNvPr id="39" name="Text 36"/>
          <p:cNvSpPr/>
          <p:nvPr/>
        </p:nvSpPr>
        <p:spPr>
          <a:xfrm>
            <a:off x="4800600" y="2382775"/>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0" name="Text 37"/>
          <p:cNvSpPr/>
          <p:nvPr/>
        </p:nvSpPr>
        <p:spPr>
          <a:xfrm>
            <a:off x="4929188" y="2393491"/>
            <a:ext cx="3122650"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Balance success optimization with maternal/infant safety</a:t>
            </a:r>
            <a:endParaRPr lang="en-US" sz="1050" dirty="0"/>
          </a:p>
        </p:txBody>
      </p:sp>
      <p:sp>
        <p:nvSpPr>
          <p:cNvPr id="41" name="Text 38"/>
          <p:cNvSpPr/>
          <p:nvPr/>
        </p:nvSpPr>
        <p:spPr>
          <a:xfrm>
            <a:off x="4800600" y="2628509"/>
            <a:ext cx="72136"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4A098"/>
                </a:solidFill>
              </a:rPr>
              <a:t>2</a:t>
            </a:r>
            <a:endParaRPr lang="en-US" sz="1100" dirty="0"/>
          </a:p>
        </p:txBody>
      </p:sp>
      <p:sp>
        <p:nvSpPr>
          <p:cNvPr id="42" name="Text 39"/>
          <p:cNvSpPr/>
          <p:nvPr/>
        </p:nvSpPr>
        <p:spPr>
          <a:xfrm>
            <a:off x="4800600" y="2846394"/>
            <a:ext cx="1827423"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First-Time vs Additional Children</a:t>
            </a:r>
            <a:endParaRPr lang="en-US" sz="1050" dirty="0"/>
          </a:p>
        </p:txBody>
      </p:sp>
      <p:sp>
        <p:nvSpPr>
          <p:cNvPr id="43" name="Text 40"/>
          <p:cNvSpPr/>
          <p:nvPr/>
        </p:nvSpPr>
        <p:spPr>
          <a:xfrm>
            <a:off x="4800600" y="305892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4" name="Text 41"/>
          <p:cNvSpPr/>
          <p:nvPr/>
        </p:nvSpPr>
        <p:spPr>
          <a:xfrm>
            <a:off x="4929188" y="3069636"/>
            <a:ext cx="1896353"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Current policy does not distinguish</a:t>
            </a:r>
            <a:endParaRPr lang="en-US" sz="1050" dirty="0"/>
          </a:p>
        </p:txBody>
      </p:sp>
      <p:sp>
        <p:nvSpPr>
          <p:cNvPr id="45" name="Text 42"/>
          <p:cNvSpPr/>
          <p:nvPr/>
        </p:nvSpPr>
        <p:spPr>
          <a:xfrm>
            <a:off x="4800600" y="3247504"/>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6" name="Text 43"/>
          <p:cNvSpPr/>
          <p:nvPr/>
        </p:nvSpPr>
        <p:spPr>
          <a:xfrm>
            <a:off x="4929188" y="3258220"/>
            <a:ext cx="2574423"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37% of 6th cycle patients already have children</a:t>
            </a:r>
            <a:endParaRPr lang="en-US" sz="1050" dirty="0"/>
          </a:p>
        </p:txBody>
      </p:sp>
      <p:sp>
        <p:nvSpPr>
          <p:cNvPr id="47" name="Text 44"/>
          <p:cNvSpPr/>
          <p:nvPr/>
        </p:nvSpPr>
        <p:spPr>
          <a:xfrm>
            <a:off x="4800600" y="3436088"/>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8" name="Text 45"/>
          <p:cNvSpPr/>
          <p:nvPr/>
        </p:nvSpPr>
        <p:spPr>
          <a:xfrm>
            <a:off x="4929188" y="3446804"/>
            <a:ext cx="3448060"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Should funding priorities differ? Policy should address explicitly</a:t>
            </a:r>
            <a:endParaRPr lang="en-US" sz="1050" dirty="0"/>
          </a:p>
        </p:txBody>
      </p:sp>
      <p:sp>
        <p:nvSpPr>
          <p:cNvPr id="49" name="Text 46"/>
          <p:cNvSpPr/>
          <p:nvPr/>
        </p:nvSpPr>
        <p:spPr>
          <a:xfrm>
            <a:off x="4800600" y="3681822"/>
            <a:ext cx="72136"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4A098"/>
                </a:solidFill>
              </a:rPr>
              <a:t>3</a:t>
            </a:r>
            <a:endParaRPr lang="en-US" sz="1100" dirty="0"/>
          </a:p>
        </p:txBody>
      </p:sp>
      <p:sp>
        <p:nvSpPr>
          <p:cNvPr id="50" name="Text 47"/>
          <p:cNvSpPr/>
          <p:nvPr/>
        </p:nvSpPr>
        <p:spPr>
          <a:xfrm>
            <a:off x="4800600" y="3899706"/>
            <a:ext cx="1699183"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2C3E50"/>
                </a:solidFill>
              </a:rPr>
              <a:t>Data Collection Improvements</a:t>
            </a:r>
            <a:endParaRPr lang="en-US" sz="1050" dirty="0"/>
          </a:p>
        </p:txBody>
      </p:sp>
      <p:sp>
        <p:nvSpPr>
          <p:cNvPr id="51" name="Text 48"/>
          <p:cNvSpPr/>
          <p:nvPr/>
        </p:nvSpPr>
        <p:spPr>
          <a:xfrm>
            <a:off x="4800600" y="4112233"/>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52" name="Text 49"/>
          <p:cNvSpPr/>
          <p:nvPr/>
        </p:nvSpPr>
        <p:spPr>
          <a:xfrm>
            <a:off x="4929188" y="4122948"/>
            <a:ext cx="3553858"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Add funding source field to enable policy compliance assessment</a:t>
            </a:r>
            <a:endParaRPr lang="en-US" sz="1050" dirty="0"/>
          </a:p>
        </p:txBody>
      </p:sp>
      <p:sp>
        <p:nvSpPr>
          <p:cNvPr id="53" name="Text 50"/>
          <p:cNvSpPr/>
          <p:nvPr/>
        </p:nvSpPr>
        <p:spPr>
          <a:xfrm>
            <a:off x="4800600" y="4300817"/>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54" name="Text 51"/>
          <p:cNvSpPr/>
          <p:nvPr/>
        </p:nvSpPr>
        <p:spPr>
          <a:xfrm>
            <a:off x="4929188" y="4311532"/>
            <a:ext cx="3029676"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Improve longitudinal tracking while maintaining privacy</a:t>
            </a:r>
            <a:endParaRPr lang="en-US" sz="1050" dirty="0"/>
          </a:p>
        </p:txBody>
      </p:sp>
      <p:sp>
        <p:nvSpPr>
          <p:cNvPr id="55" name="Text 52"/>
          <p:cNvSpPr/>
          <p:nvPr/>
        </p:nvSpPr>
        <p:spPr>
          <a:xfrm>
            <a:off x="4800600" y="448940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56" name="Text 53"/>
          <p:cNvSpPr/>
          <p:nvPr/>
        </p:nvSpPr>
        <p:spPr>
          <a:xfrm>
            <a:off x="4929188" y="4500116"/>
            <a:ext cx="1950855"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Collect clinic-level quality indicators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392906"/>
            <a:ext cx="6028317" cy="307777"/>
          </a:xfrm>
          <a:prstGeom prst="rect">
            <a:avLst/>
          </a:prstGeom>
          <a:noFill/>
          <a:ln/>
        </p:spPr>
        <p:txBody>
          <a:bodyPr wrap="none" lIns="0" tIns="0" rIns="0" bIns="0" rtlCol="0" anchor="t">
            <a:spAutoFit/>
          </a:bodyPr>
          <a:lstStyle/>
          <a:p>
            <a:pPr marL="0" indent="0" algn="l">
              <a:lnSpc>
                <a:spcPts val="2400"/>
              </a:lnSpc>
              <a:buNone/>
            </a:pPr>
            <a:r>
              <a:rPr lang="en-US" sz="3200" b="1" dirty="0">
                <a:solidFill>
                  <a:srgbClr val="0D7377"/>
                </a:solidFill>
              </a:rPr>
              <a:t>Conclusions and Recommendations</a:t>
            </a:r>
            <a:endParaRPr lang="en-US" sz="3200" dirty="0"/>
          </a:p>
        </p:txBody>
      </p:sp>
      <p:sp>
        <p:nvSpPr>
          <p:cNvPr id="4" name="Text 1"/>
          <p:cNvSpPr/>
          <p:nvPr/>
        </p:nvSpPr>
        <p:spPr>
          <a:xfrm>
            <a:off x="500063" y="828675"/>
            <a:ext cx="8143875" cy="359073"/>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2C3E50"/>
                </a:solidFill>
              </a:rPr>
              <a:t>Primary Conclusion: Our 2017-2018 data analysis, combined with published literature, supports the current NICE guideline of 3 funded IVF cycles for patients under 40, with priority attention for safety and equity.</a:t>
            </a:r>
            <a:endParaRPr lang="en-US" sz="1050" dirty="0"/>
          </a:p>
        </p:txBody>
      </p:sp>
      <p:sp>
        <p:nvSpPr>
          <p:cNvPr id="5" name="Text 2"/>
          <p:cNvSpPr/>
          <p:nvPr/>
        </p:nvSpPr>
        <p:spPr>
          <a:xfrm>
            <a:off x="500063" y="1371600"/>
            <a:ext cx="234038" cy="346249"/>
          </a:xfrm>
          <a:prstGeom prst="rect">
            <a:avLst/>
          </a:prstGeom>
          <a:noFill/>
          <a:ln/>
        </p:spPr>
        <p:txBody>
          <a:bodyPr wrap="none" lIns="0" tIns="0" rIns="0" bIns="0" rtlCol="0" anchor="t">
            <a:spAutoFit/>
          </a:bodyPr>
          <a:lstStyle/>
          <a:p>
            <a:pPr marL="0" indent="0" algn="l">
              <a:lnSpc>
                <a:spcPts val="2700"/>
              </a:lnSpc>
              <a:buNone/>
            </a:pPr>
            <a:r>
              <a:rPr lang="en-US" sz="3600" b="1" dirty="0">
                <a:solidFill>
                  <a:srgbClr val="14A098"/>
                </a:solidFill>
              </a:rPr>
              <a:t>1</a:t>
            </a:r>
            <a:endParaRPr lang="en-US" sz="3600" dirty="0"/>
          </a:p>
        </p:txBody>
      </p:sp>
      <p:sp>
        <p:nvSpPr>
          <p:cNvPr id="6" name="Text 3"/>
          <p:cNvSpPr/>
          <p:nvPr/>
        </p:nvSpPr>
        <p:spPr>
          <a:xfrm>
            <a:off x="500063" y="1846659"/>
            <a:ext cx="1867499" cy="141064"/>
          </a:xfrm>
          <a:prstGeom prst="rect">
            <a:avLst/>
          </a:prstGeom>
          <a:noFill/>
          <a:ln/>
        </p:spPr>
        <p:txBody>
          <a:bodyPr wrap="none" lIns="0" tIns="0" rIns="0" bIns="0" rtlCol="0" anchor="t">
            <a:spAutoFit/>
          </a:bodyPr>
          <a:lstStyle/>
          <a:p>
            <a:pPr marL="0" indent="0" algn="l">
              <a:lnSpc>
                <a:spcPts val="1100"/>
              </a:lnSpc>
              <a:buNone/>
            </a:pPr>
            <a:r>
              <a:rPr lang="en-US" sz="1100" b="1" dirty="0">
                <a:solidFill>
                  <a:srgbClr val="2C3E50"/>
                </a:solidFill>
              </a:rPr>
              <a:t>Maintain 3-Cycle Funding Policy</a:t>
            </a:r>
            <a:endParaRPr lang="en-US" sz="1100" dirty="0"/>
          </a:p>
        </p:txBody>
      </p:sp>
      <p:sp>
        <p:nvSpPr>
          <p:cNvPr id="7" name="Text 4"/>
          <p:cNvSpPr/>
          <p:nvPr/>
        </p:nvSpPr>
        <p:spPr>
          <a:xfrm>
            <a:off x="500063" y="2098477"/>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8" name="Text 5"/>
          <p:cNvSpPr/>
          <p:nvPr/>
        </p:nvSpPr>
        <p:spPr>
          <a:xfrm>
            <a:off x="614363" y="2103834"/>
            <a:ext cx="1529265"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85% exit by end of 3rd cycle</a:t>
            </a:r>
            <a:endParaRPr lang="en-US" sz="1050" dirty="0"/>
          </a:p>
        </p:txBody>
      </p:sp>
      <p:sp>
        <p:nvSpPr>
          <p:cNvPr id="9" name="Text 6"/>
          <p:cNvSpPr/>
          <p:nvPr/>
        </p:nvSpPr>
        <p:spPr>
          <a:xfrm>
            <a:off x="500063" y="2280642"/>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10" name="Text 7"/>
          <p:cNvSpPr/>
          <p:nvPr/>
        </p:nvSpPr>
        <p:spPr>
          <a:xfrm>
            <a:off x="614363" y="2286000"/>
            <a:ext cx="3012043"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Cumulative success ~61% after 3 cycles for women &lt;35</a:t>
            </a:r>
            <a:endParaRPr lang="en-US" sz="1050" dirty="0"/>
          </a:p>
        </p:txBody>
      </p:sp>
      <p:sp>
        <p:nvSpPr>
          <p:cNvPr id="11" name="Text 8"/>
          <p:cNvSpPr/>
          <p:nvPr/>
        </p:nvSpPr>
        <p:spPr>
          <a:xfrm>
            <a:off x="500063" y="2462808"/>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12" name="Text 9"/>
          <p:cNvSpPr/>
          <p:nvPr/>
        </p:nvSpPr>
        <p:spPr>
          <a:xfrm>
            <a:off x="614363" y="2468166"/>
            <a:ext cx="1915589"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Diminishing returns beyond cycle 3</a:t>
            </a:r>
            <a:endParaRPr lang="en-US" sz="1050" dirty="0"/>
          </a:p>
        </p:txBody>
      </p:sp>
      <p:sp>
        <p:nvSpPr>
          <p:cNvPr id="13" name="Shape 10"/>
          <p:cNvSpPr/>
          <p:nvPr/>
        </p:nvSpPr>
        <p:spPr>
          <a:xfrm>
            <a:off x="500063" y="2891433"/>
            <a:ext cx="2571750" cy="571500"/>
          </a:xfrm>
          <a:prstGeom prst="rect">
            <a:avLst/>
          </a:prstGeom>
          <a:solidFill>
            <a:srgbClr val="E8F9F7"/>
          </a:solidFill>
          <a:ln/>
        </p:spPr>
      </p:sp>
      <p:sp>
        <p:nvSpPr>
          <p:cNvPr id="14" name="Text 11"/>
          <p:cNvSpPr/>
          <p:nvPr/>
        </p:nvSpPr>
        <p:spPr>
          <a:xfrm>
            <a:off x="607219" y="2977158"/>
            <a:ext cx="981038" cy="102592"/>
          </a:xfrm>
          <a:prstGeom prst="rect">
            <a:avLst/>
          </a:prstGeom>
          <a:noFill/>
          <a:ln/>
        </p:spPr>
        <p:txBody>
          <a:bodyPr wrap="none" lIns="0" tIns="0" rIns="0" bIns="0" rtlCol="0" anchor="t">
            <a:spAutoFit/>
          </a:bodyPr>
          <a:lstStyle/>
          <a:p>
            <a:pPr marL="0" indent="0" algn="l">
              <a:lnSpc>
                <a:spcPts val="800"/>
              </a:lnSpc>
              <a:buNone/>
            </a:pPr>
            <a:r>
              <a:rPr lang="en-US" sz="1000" b="1" dirty="0">
                <a:solidFill>
                  <a:srgbClr val="0D7377"/>
                </a:solidFill>
              </a:rPr>
              <a:t>Recommendation:</a:t>
            </a:r>
            <a:endParaRPr lang="en-US" sz="1000" dirty="0"/>
          </a:p>
        </p:txBody>
      </p:sp>
      <p:sp>
        <p:nvSpPr>
          <p:cNvPr id="15" name="Text 12"/>
          <p:cNvSpPr/>
          <p:nvPr/>
        </p:nvSpPr>
        <p:spPr>
          <a:xfrm>
            <a:off x="607219" y="3136106"/>
            <a:ext cx="2357438" cy="282129"/>
          </a:xfrm>
          <a:prstGeom prst="rect">
            <a:avLst/>
          </a:prstGeom>
          <a:noFill/>
          <a:ln/>
        </p:spPr>
        <p:txBody>
          <a:bodyPr wrap="square" lIns="0" tIns="0" rIns="0" bIns="0" rtlCol="0" anchor="t">
            <a:spAutoFit/>
          </a:bodyPr>
          <a:lstStyle/>
          <a:p>
            <a:pPr marL="0" indent="0" algn="l">
              <a:lnSpc>
                <a:spcPts val="1100"/>
              </a:lnSpc>
              <a:buNone/>
            </a:pPr>
            <a:r>
              <a:rPr lang="en-US" sz="1050" dirty="0">
                <a:solidFill>
                  <a:srgbClr val="2C3E50"/>
                </a:solidFill>
              </a:rPr>
              <a:t>Continue current 3-cycle policy as the evidence-based threshold</a:t>
            </a:r>
            <a:endParaRPr lang="en-US" sz="1050" dirty="0"/>
          </a:p>
        </p:txBody>
      </p:sp>
      <p:sp>
        <p:nvSpPr>
          <p:cNvPr id="16" name="Text 13"/>
          <p:cNvSpPr/>
          <p:nvPr/>
        </p:nvSpPr>
        <p:spPr>
          <a:xfrm>
            <a:off x="3286125" y="1371600"/>
            <a:ext cx="234038" cy="346249"/>
          </a:xfrm>
          <a:prstGeom prst="rect">
            <a:avLst/>
          </a:prstGeom>
          <a:noFill/>
          <a:ln/>
        </p:spPr>
        <p:txBody>
          <a:bodyPr wrap="none" lIns="0" tIns="0" rIns="0" bIns="0" rtlCol="0" anchor="t">
            <a:spAutoFit/>
          </a:bodyPr>
          <a:lstStyle/>
          <a:p>
            <a:pPr marL="0" indent="0" algn="l">
              <a:lnSpc>
                <a:spcPts val="2700"/>
              </a:lnSpc>
              <a:buNone/>
            </a:pPr>
            <a:r>
              <a:rPr lang="en-US" sz="3600" b="1" dirty="0">
                <a:solidFill>
                  <a:srgbClr val="14A098"/>
                </a:solidFill>
              </a:rPr>
              <a:t>2</a:t>
            </a:r>
            <a:endParaRPr lang="en-US" sz="3600" dirty="0"/>
          </a:p>
        </p:txBody>
      </p:sp>
      <p:sp>
        <p:nvSpPr>
          <p:cNvPr id="17" name="Text 14"/>
          <p:cNvSpPr/>
          <p:nvPr/>
        </p:nvSpPr>
        <p:spPr>
          <a:xfrm>
            <a:off x="3286125" y="1846659"/>
            <a:ext cx="2180084" cy="141064"/>
          </a:xfrm>
          <a:prstGeom prst="rect">
            <a:avLst/>
          </a:prstGeom>
          <a:noFill/>
          <a:ln/>
        </p:spPr>
        <p:txBody>
          <a:bodyPr wrap="none" lIns="0" tIns="0" rIns="0" bIns="0" rtlCol="0" anchor="t">
            <a:spAutoFit/>
          </a:bodyPr>
          <a:lstStyle/>
          <a:p>
            <a:pPr marL="0" indent="0" algn="l">
              <a:lnSpc>
                <a:spcPts val="1100"/>
              </a:lnSpc>
              <a:buNone/>
            </a:pPr>
            <a:r>
              <a:rPr lang="en-US" sz="1100" b="1" dirty="0">
                <a:solidFill>
                  <a:srgbClr val="2C3E50"/>
                </a:solidFill>
              </a:rPr>
              <a:t>Strengthen Multiple Birth Prevention</a:t>
            </a:r>
            <a:endParaRPr lang="en-US" sz="1100" dirty="0"/>
          </a:p>
        </p:txBody>
      </p:sp>
      <p:sp>
        <p:nvSpPr>
          <p:cNvPr id="18" name="Text 15"/>
          <p:cNvSpPr/>
          <p:nvPr/>
        </p:nvSpPr>
        <p:spPr>
          <a:xfrm>
            <a:off x="3286125" y="2098477"/>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19" name="Text 16"/>
          <p:cNvSpPr/>
          <p:nvPr/>
        </p:nvSpPr>
        <p:spPr>
          <a:xfrm>
            <a:off x="3400425" y="2103834"/>
            <a:ext cx="2386872"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Multiple births rise to ~13.4% in later cycles</a:t>
            </a:r>
            <a:endParaRPr lang="en-US" sz="1050" dirty="0"/>
          </a:p>
        </p:txBody>
      </p:sp>
      <p:sp>
        <p:nvSpPr>
          <p:cNvPr id="20" name="Text 17"/>
          <p:cNvSpPr/>
          <p:nvPr/>
        </p:nvSpPr>
        <p:spPr>
          <a:xfrm>
            <a:off x="3286125" y="2280642"/>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21" name="Text 18"/>
          <p:cNvSpPr/>
          <p:nvPr/>
        </p:nvSpPr>
        <p:spPr>
          <a:xfrm>
            <a:off x="3400425" y="2286000"/>
            <a:ext cx="1982915"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eSET use falls to ~26% in later cycles</a:t>
            </a:r>
            <a:endParaRPr lang="en-US" sz="1050" dirty="0"/>
          </a:p>
        </p:txBody>
      </p:sp>
      <p:sp>
        <p:nvSpPr>
          <p:cNvPr id="22" name="Text 19"/>
          <p:cNvSpPr/>
          <p:nvPr/>
        </p:nvSpPr>
        <p:spPr>
          <a:xfrm>
            <a:off x="3286125" y="2462808"/>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23" name="Text 20"/>
          <p:cNvSpPr/>
          <p:nvPr/>
        </p:nvSpPr>
        <p:spPr>
          <a:xfrm>
            <a:off x="3400425" y="2468166"/>
            <a:ext cx="3063339"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Pressure for multiple transfers increases with treatment</a:t>
            </a:r>
            <a:endParaRPr lang="en-US" sz="1050" dirty="0"/>
          </a:p>
        </p:txBody>
      </p:sp>
      <p:sp>
        <p:nvSpPr>
          <p:cNvPr id="24" name="Shape 21"/>
          <p:cNvSpPr/>
          <p:nvPr/>
        </p:nvSpPr>
        <p:spPr>
          <a:xfrm>
            <a:off x="3286125" y="2891433"/>
            <a:ext cx="2571750" cy="571500"/>
          </a:xfrm>
          <a:prstGeom prst="rect">
            <a:avLst/>
          </a:prstGeom>
          <a:solidFill>
            <a:srgbClr val="E8F9F7"/>
          </a:solidFill>
          <a:ln/>
        </p:spPr>
      </p:sp>
      <p:sp>
        <p:nvSpPr>
          <p:cNvPr id="25" name="Text 22"/>
          <p:cNvSpPr/>
          <p:nvPr/>
        </p:nvSpPr>
        <p:spPr>
          <a:xfrm>
            <a:off x="3393281" y="2977158"/>
            <a:ext cx="981038" cy="102592"/>
          </a:xfrm>
          <a:prstGeom prst="rect">
            <a:avLst/>
          </a:prstGeom>
          <a:noFill/>
          <a:ln/>
        </p:spPr>
        <p:txBody>
          <a:bodyPr wrap="none" lIns="0" tIns="0" rIns="0" bIns="0" rtlCol="0" anchor="t">
            <a:spAutoFit/>
          </a:bodyPr>
          <a:lstStyle/>
          <a:p>
            <a:pPr marL="0" indent="0" algn="l">
              <a:lnSpc>
                <a:spcPts val="800"/>
              </a:lnSpc>
              <a:buNone/>
            </a:pPr>
            <a:r>
              <a:rPr lang="en-US" sz="1000" b="1" dirty="0">
                <a:solidFill>
                  <a:srgbClr val="0D7377"/>
                </a:solidFill>
              </a:rPr>
              <a:t>Recommendation:</a:t>
            </a:r>
            <a:endParaRPr lang="en-US" sz="1000" dirty="0"/>
          </a:p>
        </p:txBody>
      </p:sp>
      <p:sp>
        <p:nvSpPr>
          <p:cNvPr id="26" name="Text 23"/>
          <p:cNvSpPr/>
          <p:nvPr/>
        </p:nvSpPr>
        <p:spPr>
          <a:xfrm>
            <a:off x="3393281" y="3136106"/>
            <a:ext cx="2357438" cy="282129"/>
          </a:xfrm>
          <a:prstGeom prst="rect">
            <a:avLst/>
          </a:prstGeom>
          <a:noFill/>
          <a:ln/>
        </p:spPr>
        <p:txBody>
          <a:bodyPr wrap="square" lIns="0" tIns="0" rIns="0" bIns="0" rtlCol="0" anchor="t">
            <a:spAutoFit/>
          </a:bodyPr>
          <a:lstStyle/>
          <a:p>
            <a:pPr marL="0" indent="0" algn="l">
              <a:lnSpc>
                <a:spcPts val="1100"/>
              </a:lnSpc>
              <a:buNone/>
            </a:pPr>
            <a:r>
              <a:rPr lang="en-US" sz="1050" dirty="0">
                <a:solidFill>
                  <a:srgbClr val="2C3E50"/>
                </a:solidFill>
              </a:rPr>
              <a:t>Implement stronger eSET incentives for later cycles to protect safety</a:t>
            </a:r>
            <a:endParaRPr lang="en-US" sz="1050" dirty="0"/>
          </a:p>
        </p:txBody>
      </p:sp>
      <p:sp>
        <p:nvSpPr>
          <p:cNvPr id="27" name="Text 24"/>
          <p:cNvSpPr/>
          <p:nvPr/>
        </p:nvSpPr>
        <p:spPr>
          <a:xfrm>
            <a:off x="6072188" y="1371600"/>
            <a:ext cx="234038" cy="346249"/>
          </a:xfrm>
          <a:prstGeom prst="rect">
            <a:avLst/>
          </a:prstGeom>
          <a:noFill/>
          <a:ln/>
        </p:spPr>
        <p:txBody>
          <a:bodyPr wrap="none" lIns="0" tIns="0" rIns="0" bIns="0" rtlCol="0" anchor="t">
            <a:spAutoFit/>
          </a:bodyPr>
          <a:lstStyle/>
          <a:p>
            <a:pPr marL="0" indent="0" algn="l">
              <a:lnSpc>
                <a:spcPts val="2700"/>
              </a:lnSpc>
              <a:buNone/>
            </a:pPr>
            <a:r>
              <a:rPr lang="en-US" sz="3600" b="1" dirty="0">
                <a:solidFill>
                  <a:srgbClr val="14A098"/>
                </a:solidFill>
              </a:rPr>
              <a:t>3</a:t>
            </a:r>
            <a:endParaRPr lang="en-US" sz="3600" dirty="0"/>
          </a:p>
        </p:txBody>
      </p:sp>
      <p:sp>
        <p:nvSpPr>
          <p:cNvPr id="28" name="Text 25"/>
          <p:cNvSpPr/>
          <p:nvPr/>
        </p:nvSpPr>
        <p:spPr>
          <a:xfrm>
            <a:off x="6072188" y="1846659"/>
            <a:ext cx="1441100" cy="141064"/>
          </a:xfrm>
          <a:prstGeom prst="rect">
            <a:avLst/>
          </a:prstGeom>
          <a:noFill/>
          <a:ln/>
        </p:spPr>
        <p:txBody>
          <a:bodyPr wrap="none" lIns="0" tIns="0" rIns="0" bIns="0" rtlCol="0" anchor="t">
            <a:spAutoFit/>
          </a:bodyPr>
          <a:lstStyle/>
          <a:p>
            <a:pPr marL="0" indent="0" algn="l">
              <a:lnSpc>
                <a:spcPts val="1100"/>
              </a:lnSpc>
              <a:buNone/>
            </a:pPr>
            <a:r>
              <a:rPr lang="en-US" sz="1100" b="1" dirty="0">
                <a:solidFill>
                  <a:srgbClr val="2C3E50"/>
                </a:solidFill>
              </a:rPr>
              <a:t>Clarify Funding Priorities</a:t>
            </a:r>
            <a:endParaRPr lang="en-US" sz="1100" dirty="0"/>
          </a:p>
        </p:txBody>
      </p:sp>
      <p:sp>
        <p:nvSpPr>
          <p:cNvPr id="29" name="Text 26"/>
          <p:cNvSpPr/>
          <p:nvPr/>
        </p:nvSpPr>
        <p:spPr>
          <a:xfrm>
            <a:off x="6072188" y="2098477"/>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30" name="Text 27"/>
          <p:cNvSpPr/>
          <p:nvPr/>
        </p:nvSpPr>
        <p:spPr>
          <a:xfrm>
            <a:off x="6186488" y="2103834"/>
            <a:ext cx="2654573"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37% of later-cycle patients already have children</a:t>
            </a:r>
            <a:endParaRPr lang="en-US" sz="1050" dirty="0"/>
          </a:p>
        </p:txBody>
      </p:sp>
      <p:sp>
        <p:nvSpPr>
          <p:cNvPr id="31" name="Text 28"/>
          <p:cNvSpPr/>
          <p:nvPr/>
        </p:nvSpPr>
        <p:spPr>
          <a:xfrm>
            <a:off x="6072188" y="2280642"/>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32" name="Text 29"/>
          <p:cNvSpPr/>
          <p:nvPr/>
        </p:nvSpPr>
        <p:spPr>
          <a:xfrm>
            <a:off x="6186488" y="2286000"/>
            <a:ext cx="2352108" cy="282129"/>
          </a:xfrm>
          <a:prstGeom prst="rect">
            <a:avLst/>
          </a:prstGeom>
          <a:noFill/>
          <a:ln/>
        </p:spPr>
        <p:txBody>
          <a:bodyPr wrap="square" lIns="0" tIns="0" rIns="0" bIns="0" rtlCol="0" anchor="t">
            <a:spAutoFit/>
          </a:bodyPr>
          <a:lstStyle/>
          <a:p>
            <a:pPr marL="0" indent="0" algn="l">
              <a:lnSpc>
                <a:spcPts val="1100"/>
              </a:lnSpc>
              <a:buNone/>
            </a:pPr>
            <a:r>
              <a:rPr lang="en-US" sz="1050" dirty="0">
                <a:solidFill>
                  <a:srgbClr val="5A6C7D"/>
                </a:solidFill>
              </a:rPr>
              <a:t>Policy currently does not distinguish first vs additional children</a:t>
            </a:r>
            <a:endParaRPr lang="en-US" sz="1050" dirty="0"/>
          </a:p>
        </p:txBody>
      </p:sp>
      <p:sp>
        <p:nvSpPr>
          <p:cNvPr id="33" name="Text 30"/>
          <p:cNvSpPr/>
          <p:nvPr/>
        </p:nvSpPr>
        <p:spPr>
          <a:xfrm>
            <a:off x="6072188" y="2602111"/>
            <a:ext cx="6732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4A098"/>
                </a:solidFill>
              </a:rPr>
              <a:t>•</a:t>
            </a:r>
            <a:endParaRPr lang="en-US" sz="1050" dirty="0"/>
          </a:p>
        </p:txBody>
      </p:sp>
      <p:sp>
        <p:nvSpPr>
          <p:cNvPr id="34" name="Text 31"/>
          <p:cNvSpPr/>
          <p:nvPr/>
        </p:nvSpPr>
        <p:spPr>
          <a:xfrm>
            <a:off x="6186488" y="2607469"/>
            <a:ext cx="2630528" cy="141064"/>
          </a:xfrm>
          <a:prstGeom prst="rect">
            <a:avLst/>
          </a:prstGeom>
          <a:noFill/>
          <a:ln/>
        </p:spPr>
        <p:txBody>
          <a:bodyPr wrap="none" lIns="0" tIns="0" rIns="0" bIns="0" rtlCol="0" anchor="t">
            <a:spAutoFit/>
          </a:bodyPr>
          <a:lstStyle/>
          <a:p>
            <a:pPr marL="0" indent="0" algn="l">
              <a:lnSpc>
                <a:spcPts val="1100"/>
              </a:lnSpc>
              <a:buNone/>
            </a:pPr>
            <a:r>
              <a:rPr lang="en-US" sz="1050" dirty="0">
                <a:solidFill>
                  <a:srgbClr val="5A6C7D"/>
                </a:solidFill>
              </a:rPr>
              <a:t>Equity implications need explicit policy direction</a:t>
            </a:r>
            <a:endParaRPr lang="en-US" sz="1050" dirty="0"/>
          </a:p>
        </p:txBody>
      </p:sp>
      <p:sp>
        <p:nvSpPr>
          <p:cNvPr id="35" name="Shape 32"/>
          <p:cNvSpPr/>
          <p:nvPr/>
        </p:nvSpPr>
        <p:spPr>
          <a:xfrm>
            <a:off x="6072188" y="2891433"/>
            <a:ext cx="2571750" cy="571500"/>
          </a:xfrm>
          <a:prstGeom prst="rect">
            <a:avLst/>
          </a:prstGeom>
          <a:solidFill>
            <a:srgbClr val="E8F9F7"/>
          </a:solidFill>
          <a:ln/>
        </p:spPr>
      </p:sp>
      <p:sp>
        <p:nvSpPr>
          <p:cNvPr id="36" name="Text 33"/>
          <p:cNvSpPr/>
          <p:nvPr/>
        </p:nvSpPr>
        <p:spPr>
          <a:xfrm>
            <a:off x="6179344" y="2977158"/>
            <a:ext cx="981038" cy="102592"/>
          </a:xfrm>
          <a:prstGeom prst="rect">
            <a:avLst/>
          </a:prstGeom>
          <a:noFill/>
          <a:ln/>
        </p:spPr>
        <p:txBody>
          <a:bodyPr wrap="none" lIns="0" tIns="0" rIns="0" bIns="0" rtlCol="0" anchor="t">
            <a:spAutoFit/>
          </a:bodyPr>
          <a:lstStyle/>
          <a:p>
            <a:pPr marL="0" indent="0" algn="l">
              <a:lnSpc>
                <a:spcPts val="800"/>
              </a:lnSpc>
              <a:buNone/>
            </a:pPr>
            <a:r>
              <a:rPr lang="en-US" sz="1000" b="1" dirty="0">
                <a:solidFill>
                  <a:srgbClr val="0D7377"/>
                </a:solidFill>
              </a:rPr>
              <a:t>Recommendation:</a:t>
            </a:r>
            <a:endParaRPr lang="en-US" sz="1000" dirty="0"/>
          </a:p>
        </p:txBody>
      </p:sp>
      <p:sp>
        <p:nvSpPr>
          <p:cNvPr id="37" name="Text 34"/>
          <p:cNvSpPr/>
          <p:nvPr/>
        </p:nvSpPr>
        <p:spPr>
          <a:xfrm>
            <a:off x="6179344" y="3136106"/>
            <a:ext cx="2357438" cy="282129"/>
          </a:xfrm>
          <a:prstGeom prst="rect">
            <a:avLst/>
          </a:prstGeom>
          <a:noFill/>
          <a:ln/>
        </p:spPr>
        <p:txBody>
          <a:bodyPr wrap="square" lIns="0" tIns="0" rIns="0" bIns="0" rtlCol="0" anchor="t">
            <a:spAutoFit/>
          </a:bodyPr>
          <a:lstStyle/>
          <a:p>
            <a:pPr marL="0" indent="0" algn="l">
              <a:lnSpc>
                <a:spcPts val="1100"/>
              </a:lnSpc>
              <a:buNone/>
            </a:pPr>
            <a:r>
              <a:rPr lang="en-US" sz="1050" dirty="0">
                <a:solidFill>
                  <a:srgbClr val="2C3E50"/>
                </a:solidFill>
              </a:rPr>
              <a:t>NICE should clarify whether priorities differ for first vs additional children</a:t>
            </a:r>
            <a:endParaRPr lang="en-US" sz="1050" dirty="0"/>
          </a:p>
        </p:txBody>
      </p:sp>
      <p:sp>
        <p:nvSpPr>
          <p:cNvPr id="38" name="Shape 35"/>
          <p:cNvSpPr/>
          <p:nvPr/>
        </p:nvSpPr>
        <p:spPr>
          <a:xfrm>
            <a:off x="500063" y="3641527"/>
            <a:ext cx="8143875" cy="974731"/>
          </a:xfrm>
          <a:prstGeom prst="rect">
            <a:avLst/>
          </a:prstGeom>
          <a:solidFill>
            <a:srgbClr val="FFFFFF"/>
          </a:solidFill>
          <a:ln/>
        </p:spPr>
      </p:sp>
      <p:sp>
        <p:nvSpPr>
          <p:cNvPr id="39" name="Text 36"/>
          <p:cNvSpPr/>
          <p:nvPr/>
        </p:nvSpPr>
        <p:spPr>
          <a:xfrm>
            <a:off x="678656" y="3770114"/>
            <a:ext cx="1875513" cy="141064"/>
          </a:xfrm>
          <a:prstGeom prst="rect">
            <a:avLst/>
          </a:prstGeom>
          <a:noFill/>
          <a:ln/>
        </p:spPr>
        <p:txBody>
          <a:bodyPr wrap="none" lIns="0" tIns="0" rIns="0" bIns="0" rtlCol="0" anchor="t">
            <a:spAutoFit/>
          </a:bodyPr>
          <a:lstStyle/>
          <a:p>
            <a:pPr marL="0" indent="0" algn="l">
              <a:lnSpc>
                <a:spcPts val="1100"/>
              </a:lnSpc>
              <a:buNone/>
            </a:pPr>
            <a:r>
              <a:rPr lang="en-US" sz="1100" b="1" dirty="0">
                <a:solidFill>
                  <a:srgbClr val="2C3E50"/>
                </a:solidFill>
              </a:rPr>
              <a:t>Future Data Collection Priorities</a:t>
            </a:r>
            <a:endParaRPr lang="en-US" sz="1100" dirty="0"/>
          </a:p>
        </p:txBody>
      </p:sp>
      <p:sp>
        <p:nvSpPr>
          <p:cNvPr id="40" name="Text 37"/>
          <p:cNvSpPr/>
          <p:nvPr/>
        </p:nvSpPr>
        <p:spPr>
          <a:xfrm>
            <a:off x="678656" y="4021931"/>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1" name="Text 38"/>
          <p:cNvSpPr/>
          <p:nvPr/>
        </p:nvSpPr>
        <p:spPr>
          <a:xfrm>
            <a:off x="807244" y="4032647"/>
            <a:ext cx="2862963"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Add funding source field to assess policy compliance</a:t>
            </a:r>
            <a:endParaRPr lang="en-US" sz="1050" dirty="0"/>
          </a:p>
        </p:txBody>
      </p:sp>
      <p:sp>
        <p:nvSpPr>
          <p:cNvPr id="42" name="Text 39"/>
          <p:cNvSpPr/>
          <p:nvPr/>
        </p:nvSpPr>
        <p:spPr>
          <a:xfrm>
            <a:off x="678656" y="4239090"/>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3" name="Text 40"/>
          <p:cNvSpPr/>
          <p:nvPr/>
        </p:nvSpPr>
        <p:spPr>
          <a:xfrm>
            <a:off x="807244" y="4249806"/>
            <a:ext cx="2959143"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Improve longitudinal tracking while preserving privacy</a:t>
            </a:r>
            <a:endParaRPr lang="en-US" sz="1050" dirty="0"/>
          </a:p>
        </p:txBody>
      </p:sp>
      <p:sp>
        <p:nvSpPr>
          <p:cNvPr id="44" name="Text 41"/>
          <p:cNvSpPr/>
          <p:nvPr/>
        </p:nvSpPr>
        <p:spPr>
          <a:xfrm>
            <a:off x="678656" y="4456249"/>
            <a:ext cx="67326" cy="166712"/>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4A098"/>
                </a:solidFill>
              </a:rPr>
              <a:t>•</a:t>
            </a:r>
            <a:endParaRPr lang="en-US" sz="1050" dirty="0"/>
          </a:p>
        </p:txBody>
      </p:sp>
      <p:sp>
        <p:nvSpPr>
          <p:cNvPr id="45" name="Text 42"/>
          <p:cNvSpPr/>
          <p:nvPr/>
        </p:nvSpPr>
        <p:spPr>
          <a:xfrm>
            <a:off x="807244" y="4466965"/>
            <a:ext cx="2114361" cy="166712"/>
          </a:xfrm>
          <a:prstGeom prst="rect">
            <a:avLst/>
          </a:prstGeom>
          <a:noFill/>
          <a:ln/>
        </p:spPr>
        <p:txBody>
          <a:bodyPr wrap="none" lIns="0" tIns="0" rIns="0" bIns="0" rtlCol="0" anchor="t">
            <a:spAutoFit/>
          </a:bodyPr>
          <a:lstStyle/>
          <a:p>
            <a:pPr marL="0" indent="0" algn="l">
              <a:lnSpc>
                <a:spcPts val="1300"/>
              </a:lnSpc>
              <a:buNone/>
            </a:pPr>
            <a:r>
              <a:rPr lang="en-US" sz="1050" dirty="0">
                <a:solidFill>
                  <a:srgbClr val="5A6C7D"/>
                </a:solidFill>
              </a:rPr>
              <a:t>Update analysis with more recent data</a:t>
            </a:r>
            <a:endParaRPr lang="en-US" sz="1050" dirty="0"/>
          </a:p>
        </p:txBody>
      </p:sp>
      <p:sp>
        <p:nvSpPr>
          <p:cNvPr id="46" name="Text 43"/>
          <p:cNvSpPr/>
          <p:nvPr/>
        </p:nvSpPr>
        <p:spPr>
          <a:xfrm>
            <a:off x="500063" y="4744845"/>
            <a:ext cx="8143875" cy="333425"/>
          </a:xfrm>
          <a:prstGeom prst="rect">
            <a:avLst/>
          </a:prstGeom>
          <a:noFill/>
          <a:ln/>
        </p:spPr>
        <p:txBody>
          <a:bodyPr wrap="square" lIns="0" tIns="0" rIns="0" bIns="0" rtlCol="0" anchor="t">
            <a:spAutoFit/>
          </a:bodyPr>
          <a:lstStyle/>
          <a:p>
            <a:pPr marL="0" indent="0" algn="ctr">
              <a:lnSpc>
                <a:spcPts val="1300"/>
              </a:lnSpc>
              <a:buNone/>
            </a:pPr>
            <a:r>
              <a:rPr lang="en-US" sz="1050" i="1" dirty="0">
                <a:solidFill>
                  <a:srgbClr val="5A6C7D"/>
                </a:solidFill>
              </a:rPr>
              <a:t>IVF outcomes are complex; policy should reflect the populations and contexts behind the numbers. The 3-cycle policy is evidence-based but needs ongoing attention to safety and equity.</a:t>
            </a:r>
            <a:endParaRPr lang="en-US" sz="10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263904" y="551855"/>
            <a:ext cx="2616165" cy="628377"/>
          </a:xfrm>
          <a:prstGeom prst="rect">
            <a:avLst/>
          </a:prstGeom>
          <a:noFill/>
          <a:ln/>
        </p:spPr>
        <p:txBody>
          <a:bodyPr wrap="none" lIns="0" tIns="0" rIns="0" bIns="0" rtlCol="0" anchor="t">
            <a:spAutoFit/>
          </a:bodyPr>
          <a:lstStyle/>
          <a:p>
            <a:pPr marL="0" indent="0" algn="ctr">
              <a:lnSpc>
                <a:spcPts val="4900"/>
              </a:lnSpc>
              <a:buNone/>
            </a:pPr>
            <a:r>
              <a:rPr lang="en-US" sz="4400" b="1" dirty="0">
                <a:solidFill>
                  <a:srgbClr val="0D7377"/>
                </a:solidFill>
              </a:rPr>
              <a:t>Questions?</a:t>
            </a:r>
            <a:endParaRPr lang="en-US" sz="4400" dirty="0"/>
          </a:p>
        </p:txBody>
      </p:sp>
      <p:sp>
        <p:nvSpPr>
          <p:cNvPr id="4" name="Text 1"/>
          <p:cNvSpPr/>
          <p:nvPr/>
        </p:nvSpPr>
        <p:spPr>
          <a:xfrm>
            <a:off x="2849926" y="1537692"/>
            <a:ext cx="3444149" cy="205184"/>
          </a:xfrm>
          <a:prstGeom prst="rect">
            <a:avLst/>
          </a:prstGeom>
          <a:noFill/>
          <a:ln/>
        </p:spPr>
        <p:txBody>
          <a:bodyPr wrap="none" lIns="0" tIns="0" rIns="0" bIns="0" rtlCol="0" anchor="t">
            <a:spAutoFit/>
          </a:bodyPr>
          <a:lstStyle/>
          <a:p>
            <a:pPr marL="0" indent="0" algn="ctr">
              <a:lnSpc>
                <a:spcPts val="1600"/>
              </a:lnSpc>
              <a:buNone/>
            </a:pPr>
            <a:r>
              <a:rPr lang="en-US" sz="1400" b="1" dirty="0">
                <a:solidFill>
                  <a:srgbClr val="5A6C7D"/>
                </a:solidFill>
              </a:rPr>
              <a:t>I'm happy to discuss any aspect of the analysis</a:t>
            </a:r>
            <a:endParaRPr lang="en-US" sz="1400" dirty="0"/>
          </a:p>
        </p:txBody>
      </p:sp>
      <p:sp>
        <p:nvSpPr>
          <p:cNvPr id="5" name="Shape 2"/>
          <p:cNvSpPr/>
          <p:nvPr/>
        </p:nvSpPr>
        <p:spPr>
          <a:xfrm>
            <a:off x="1714500" y="2943225"/>
            <a:ext cx="5715000" cy="1648420"/>
          </a:xfrm>
          <a:prstGeom prst="rect">
            <a:avLst/>
          </a:prstGeom>
          <a:solidFill>
            <a:srgbClr val="E8F9F7"/>
          </a:solidFill>
          <a:ln/>
        </p:spPr>
      </p:sp>
      <p:sp>
        <p:nvSpPr>
          <p:cNvPr id="6" name="Text 3"/>
          <p:cNvSpPr/>
          <p:nvPr/>
        </p:nvSpPr>
        <p:spPr>
          <a:xfrm>
            <a:off x="2143125" y="3228975"/>
            <a:ext cx="4857750" cy="742576"/>
          </a:xfrm>
          <a:prstGeom prst="rect">
            <a:avLst/>
          </a:prstGeom>
          <a:noFill/>
          <a:ln/>
        </p:spPr>
        <p:txBody>
          <a:bodyPr wrap="square" lIns="0" tIns="0" rIns="0" bIns="0" rtlCol="0" anchor="t">
            <a:spAutoFit/>
          </a:bodyPr>
          <a:lstStyle/>
          <a:p>
            <a:pPr marL="0" indent="0" algn="ctr">
              <a:lnSpc>
                <a:spcPts val="2000"/>
              </a:lnSpc>
              <a:buNone/>
            </a:pPr>
            <a:r>
              <a:rPr lang="en-US" sz="1200" dirty="0">
                <a:solidFill>
                  <a:srgbClr val="2C3E50"/>
                </a:solidFill>
              </a:rPr>
              <a:t>Thank you for the opportunity to present this analysis of IVF cycle outcomes. I look forward to discussing how data-driven insights can support HFEA's mission to improve fertility treatment outcomes and patient safety.</a:t>
            </a:r>
            <a:endParaRPr lang="en-US" sz="1200" dirty="0"/>
          </a:p>
        </p:txBody>
      </p:sp>
      <p:sp>
        <p:nvSpPr>
          <p:cNvPr id="7" name="Text 4"/>
          <p:cNvSpPr/>
          <p:nvPr/>
        </p:nvSpPr>
        <p:spPr>
          <a:xfrm>
            <a:off x="3570122" y="4436269"/>
            <a:ext cx="2003755" cy="141064"/>
          </a:xfrm>
          <a:prstGeom prst="rect">
            <a:avLst/>
          </a:prstGeom>
          <a:noFill/>
          <a:ln/>
        </p:spPr>
        <p:txBody>
          <a:bodyPr wrap="none" lIns="0" tIns="0" rIns="0" bIns="0" rtlCol="0" anchor="t">
            <a:spAutoFit/>
          </a:bodyPr>
          <a:lstStyle/>
          <a:p>
            <a:pPr marL="0" indent="0" algn="ctr">
              <a:lnSpc>
                <a:spcPts val="1100"/>
              </a:lnSpc>
              <a:buNone/>
            </a:pPr>
            <a:r>
              <a:rPr lang="en-US" sz="1000" i="1" dirty="0">
                <a:solidFill>
                  <a:srgbClr val="5A6C7D"/>
                </a:solidFill>
              </a:rPr>
              <a:t>Ready for your questions and feedback</a:t>
            </a: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2180</Words>
  <Application>Microsoft Office PowerPoint</Application>
  <PresentationFormat>On-screen Show (16:9)</PresentationFormat>
  <Paragraphs>410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6</cp:revision>
  <dcterms:created xsi:type="dcterms:W3CDTF">2026-02-04T17:52:04Z</dcterms:created>
  <dcterms:modified xsi:type="dcterms:W3CDTF">2026-02-05T00:03:22Z</dcterms:modified>
</cp:coreProperties>
</file>